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7559675" cx="10080625"/>
  <p:notesSz cx="7772400" cy="10058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23" roundtripDataSignature="AMtx7mhxqWhrpGnynSUAJqvYJjC62hGo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B91D93-489E-4488-896C-D51FB2A6BC79}">
  <a:tblStyle styleId="{81B91D93-489E-4488-896C-D51FB2A6BC7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7772400" cy="10058400"/>
          </a:xfrm>
          <a:prstGeom prst="roundRect">
            <a:avLst>
              <a:gd fmla="val 1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7772400" cy="10058400"/>
          </a:xfrm>
          <a:prstGeom prst="roundRect">
            <a:avLst>
              <a:gd fmla="val 1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5;n"/>
          <p:cNvSpPr/>
          <p:nvPr>
            <p:ph idx="2" type="sldImg"/>
          </p:nvPr>
        </p:nvSpPr>
        <p:spPr>
          <a:xfrm>
            <a:off x="1587500" y="1006475"/>
            <a:ext cx="4594225" cy="3446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185863" y="4787900"/>
            <a:ext cx="5405437" cy="382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 txBox="1"/>
          <p:nvPr>
            <p:ph idx="1" type="body"/>
          </p:nvPr>
        </p:nvSpPr>
        <p:spPr>
          <a:xfrm>
            <a:off x="1185863" y="4787900"/>
            <a:ext cx="5405437" cy="3824288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:notes"/>
          <p:cNvSpPr/>
          <p:nvPr>
            <p:ph idx="2" type="sldImg"/>
          </p:nvPr>
        </p:nvSpPr>
        <p:spPr>
          <a:xfrm>
            <a:off x="1587500" y="1006475"/>
            <a:ext cx="4594225" cy="3446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1185863" y="4787900"/>
            <a:ext cx="5405437" cy="3824288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/>
          <p:nvPr>
            <p:ph idx="2" type="sldImg"/>
          </p:nvPr>
        </p:nvSpPr>
        <p:spPr>
          <a:xfrm>
            <a:off x="1587500" y="1006475"/>
            <a:ext cx="4594225" cy="3446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1185863" y="4787900"/>
            <a:ext cx="5405437" cy="3824288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/>
          <p:nvPr>
            <p:ph idx="2" type="sldImg"/>
          </p:nvPr>
        </p:nvSpPr>
        <p:spPr>
          <a:xfrm>
            <a:off x="1587500" y="1006475"/>
            <a:ext cx="4594225" cy="3446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1185863" y="4787900"/>
            <a:ext cx="5405437" cy="3824288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/>
          <p:nvPr>
            <p:ph idx="2" type="sldImg"/>
          </p:nvPr>
        </p:nvSpPr>
        <p:spPr>
          <a:xfrm>
            <a:off x="1587500" y="1006475"/>
            <a:ext cx="4594225" cy="3446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1185863" y="4787900"/>
            <a:ext cx="5405437" cy="3824288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587500" y="1006475"/>
            <a:ext cx="4594225" cy="3446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1185863" y="4787900"/>
            <a:ext cx="5405437" cy="3824288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587500" y="1006475"/>
            <a:ext cx="4594225" cy="3446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1185863" y="4787900"/>
            <a:ext cx="5405437" cy="3824288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1587500" y="1006475"/>
            <a:ext cx="4594225" cy="3446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 txBox="1"/>
          <p:nvPr>
            <p:ph idx="1" type="body"/>
          </p:nvPr>
        </p:nvSpPr>
        <p:spPr>
          <a:xfrm>
            <a:off x="1185863" y="4787900"/>
            <a:ext cx="5405437" cy="3824288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:notes"/>
          <p:cNvSpPr/>
          <p:nvPr>
            <p:ph idx="2" type="sldImg"/>
          </p:nvPr>
        </p:nvSpPr>
        <p:spPr>
          <a:xfrm>
            <a:off x="1587500" y="1006475"/>
            <a:ext cx="4594225" cy="3446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 txBox="1"/>
          <p:nvPr>
            <p:ph idx="1" type="body"/>
          </p:nvPr>
        </p:nvSpPr>
        <p:spPr>
          <a:xfrm>
            <a:off x="1185863" y="4787900"/>
            <a:ext cx="5405437" cy="3824288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:notes"/>
          <p:cNvSpPr/>
          <p:nvPr>
            <p:ph idx="2" type="sldImg"/>
          </p:nvPr>
        </p:nvSpPr>
        <p:spPr>
          <a:xfrm>
            <a:off x="1587500" y="1006475"/>
            <a:ext cx="4594225" cy="3446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0:notes"/>
          <p:cNvSpPr txBox="1"/>
          <p:nvPr>
            <p:ph idx="1" type="body"/>
          </p:nvPr>
        </p:nvSpPr>
        <p:spPr>
          <a:xfrm>
            <a:off x="1185863" y="4787900"/>
            <a:ext cx="5405437" cy="3824288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:notes"/>
          <p:cNvSpPr/>
          <p:nvPr>
            <p:ph idx="2" type="sldImg"/>
          </p:nvPr>
        </p:nvSpPr>
        <p:spPr>
          <a:xfrm>
            <a:off x="1587500" y="1006475"/>
            <a:ext cx="4594225" cy="3446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1:notes"/>
          <p:cNvSpPr txBox="1"/>
          <p:nvPr>
            <p:ph idx="1" type="body"/>
          </p:nvPr>
        </p:nvSpPr>
        <p:spPr>
          <a:xfrm>
            <a:off x="1185863" y="4787900"/>
            <a:ext cx="5405437" cy="3824288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1:notes"/>
          <p:cNvSpPr/>
          <p:nvPr>
            <p:ph idx="2" type="sldImg"/>
          </p:nvPr>
        </p:nvSpPr>
        <p:spPr>
          <a:xfrm>
            <a:off x="1587500" y="1006475"/>
            <a:ext cx="4594225" cy="3446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2:notes"/>
          <p:cNvSpPr txBox="1"/>
          <p:nvPr>
            <p:ph idx="1" type="body"/>
          </p:nvPr>
        </p:nvSpPr>
        <p:spPr>
          <a:xfrm>
            <a:off x="1185863" y="4787900"/>
            <a:ext cx="5405437" cy="3824288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2:notes"/>
          <p:cNvSpPr/>
          <p:nvPr>
            <p:ph idx="2" type="sldImg"/>
          </p:nvPr>
        </p:nvSpPr>
        <p:spPr>
          <a:xfrm>
            <a:off x="1587500" y="1006475"/>
            <a:ext cx="4594225" cy="3446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3:notes"/>
          <p:cNvSpPr txBox="1"/>
          <p:nvPr>
            <p:ph idx="1" type="body"/>
          </p:nvPr>
        </p:nvSpPr>
        <p:spPr>
          <a:xfrm>
            <a:off x="1185863" y="4787900"/>
            <a:ext cx="5405437" cy="3824288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3:notes"/>
          <p:cNvSpPr/>
          <p:nvPr>
            <p:ph idx="2" type="sldImg"/>
          </p:nvPr>
        </p:nvSpPr>
        <p:spPr>
          <a:xfrm>
            <a:off x="1587500" y="1006475"/>
            <a:ext cx="4594225" cy="3446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4:notes"/>
          <p:cNvSpPr txBox="1"/>
          <p:nvPr>
            <p:ph idx="1" type="body"/>
          </p:nvPr>
        </p:nvSpPr>
        <p:spPr>
          <a:xfrm>
            <a:off x="1185863" y="4787900"/>
            <a:ext cx="5405437" cy="3824288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4:notes"/>
          <p:cNvSpPr/>
          <p:nvPr>
            <p:ph idx="2" type="sldImg"/>
          </p:nvPr>
        </p:nvSpPr>
        <p:spPr>
          <a:xfrm>
            <a:off x="1587500" y="1006475"/>
            <a:ext cx="4594225" cy="3446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5:notes"/>
          <p:cNvSpPr txBox="1"/>
          <p:nvPr>
            <p:ph idx="1" type="body"/>
          </p:nvPr>
        </p:nvSpPr>
        <p:spPr>
          <a:xfrm>
            <a:off x="1185863" y="4787900"/>
            <a:ext cx="5405437" cy="3824288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5:notes"/>
          <p:cNvSpPr/>
          <p:nvPr>
            <p:ph idx="2" type="sldImg"/>
          </p:nvPr>
        </p:nvSpPr>
        <p:spPr>
          <a:xfrm>
            <a:off x="1587500" y="1006475"/>
            <a:ext cx="4594225" cy="3446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6:notes"/>
          <p:cNvSpPr txBox="1"/>
          <p:nvPr>
            <p:ph idx="1" type="body"/>
          </p:nvPr>
        </p:nvSpPr>
        <p:spPr>
          <a:xfrm>
            <a:off x="1185863" y="4787900"/>
            <a:ext cx="5405437" cy="3824288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6:notes"/>
          <p:cNvSpPr/>
          <p:nvPr>
            <p:ph idx="2" type="sldImg"/>
          </p:nvPr>
        </p:nvSpPr>
        <p:spPr>
          <a:xfrm>
            <a:off x="1587500" y="1006475"/>
            <a:ext cx="4594225" cy="3446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8"/>
          <p:cNvSpPr/>
          <p:nvPr/>
        </p:nvSpPr>
        <p:spPr>
          <a:xfrm>
            <a:off x="-72257" y="96491"/>
            <a:ext cx="10152881" cy="746318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18"/>
          <p:cNvSpPr/>
          <p:nvPr/>
        </p:nvSpPr>
        <p:spPr>
          <a:xfrm flipH="1" rot="10800000">
            <a:off x="-72256" y="1979637"/>
            <a:ext cx="8635993" cy="5580038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p18"/>
          <p:cNvSpPr/>
          <p:nvPr/>
        </p:nvSpPr>
        <p:spPr>
          <a:xfrm>
            <a:off x="-72256" y="1"/>
            <a:ext cx="10153127" cy="52739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18"/>
          <p:cNvSpPr txBox="1"/>
          <p:nvPr>
            <p:ph type="ctrTitle"/>
          </p:nvPr>
        </p:nvSpPr>
        <p:spPr>
          <a:xfrm>
            <a:off x="287784" y="533150"/>
            <a:ext cx="9505056" cy="1446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287784" y="2411685"/>
            <a:ext cx="8172822" cy="1931917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5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20"/>
              </a:spcBef>
              <a:spcAft>
                <a:spcPts val="0"/>
              </a:spcAft>
              <a:buClr>
                <a:srgbClr val="888888"/>
              </a:buClr>
              <a:buSzPts val="3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20"/>
              </a:spcBef>
              <a:spcAft>
                <a:spcPts val="0"/>
              </a:spcAft>
              <a:buClr>
                <a:srgbClr val="888888"/>
              </a:buClr>
              <a:buSzPts val="2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descr="E:\Usuarios\Elpellini\Desktop\SEMOP\MakingOf\minerva.jpg" id="18" name="Google Shape;1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6009" y="6084093"/>
            <a:ext cx="1081895" cy="1119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ítulo e conteúdo">
  <p:cSld name="2_Título e conteúdo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/>
          <p:nvPr/>
        </p:nvSpPr>
        <p:spPr>
          <a:xfrm>
            <a:off x="0" y="96491"/>
            <a:ext cx="10080872" cy="752427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Google Shape;21;p19"/>
          <p:cNvSpPr/>
          <p:nvPr/>
        </p:nvSpPr>
        <p:spPr>
          <a:xfrm flipH="1" rot="10800000">
            <a:off x="0" y="780009"/>
            <a:ext cx="9787873" cy="6840760"/>
          </a:xfrm>
          <a:prstGeom prst="round2DiagRect">
            <a:avLst>
              <a:gd fmla="val 1366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22;p19"/>
          <p:cNvSpPr/>
          <p:nvPr/>
        </p:nvSpPr>
        <p:spPr>
          <a:xfrm>
            <a:off x="0" y="6588149"/>
            <a:ext cx="9719458" cy="103261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" name="Google Shape;23;p19"/>
          <p:cNvSpPr/>
          <p:nvPr/>
        </p:nvSpPr>
        <p:spPr>
          <a:xfrm>
            <a:off x="0" y="1"/>
            <a:ext cx="10080871" cy="5273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E:\Usuarios\Elpellini\Desktop\SEMOP\MakingOf\minerva.jpg" id="24" name="Google Shape;2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760" y="53801"/>
            <a:ext cx="405584" cy="41979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9"/>
          <p:cNvSpPr txBox="1"/>
          <p:nvPr>
            <p:ph type="title"/>
          </p:nvPr>
        </p:nvSpPr>
        <p:spPr>
          <a:xfrm>
            <a:off x="358650" y="780009"/>
            <a:ext cx="9074150" cy="983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>
                <a:solidFill>
                  <a:srgbClr val="0F243E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" type="body"/>
          </p:nvPr>
        </p:nvSpPr>
        <p:spPr>
          <a:xfrm>
            <a:off x="359792" y="1907629"/>
            <a:ext cx="9074150" cy="4733606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rgbClr val="244061"/>
              </a:buClr>
              <a:buSzPts val="3200"/>
              <a:buChar char="•"/>
              <a:defRPr sz="3200">
                <a:solidFill>
                  <a:srgbClr val="244061"/>
                </a:solidFill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244061"/>
              </a:buClr>
              <a:buSzPts val="2800"/>
              <a:buChar char="–"/>
              <a:defRPr sz="2800">
                <a:solidFill>
                  <a:srgbClr val="244061"/>
                </a:solidFill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rgbClr val="244061"/>
              </a:buClr>
              <a:buSzPts val="2400"/>
              <a:buChar char="•"/>
              <a:defRPr sz="2400">
                <a:solidFill>
                  <a:srgbClr val="244061"/>
                </a:solidFill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244061"/>
              </a:buClr>
              <a:buSzPts val="2000"/>
              <a:buChar char="–"/>
              <a:defRPr sz="2000">
                <a:solidFill>
                  <a:srgbClr val="244061"/>
                </a:solidFill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rgbClr val="244061"/>
              </a:buClr>
              <a:buSzPts val="2000"/>
              <a:buChar char="»"/>
              <a:defRPr sz="2000">
                <a:solidFill>
                  <a:srgbClr val="24406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9"/>
          <p:cNvSpPr/>
          <p:nvPr/>
        </p:nvSpPr>
        <p:spPr>
          <a:xfrm>
            <a:off x="-246" y="527399"/>
            <a:ext cx="10080871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" name="Google Shape;28;p19"/>
          <p:cNvSpPr txBox="1"/>
          <p:nvPr/>
        </p:nvSpPr>
        <p:spPr>
          <a:xfrm rot="-5400000">
            <a:off x="9228083" y="6743472"/>
            <a:ext cx="1412578" cy="29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pt-BR" sz="1200" u="none" cap="none" strike="noStrike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i="0" sz="1200" u="none" cap="none" strike="noStrike">
              <a:solidFill>
                <a:srgbClr val="FFC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ítulo e conteúdo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/>
          <p:nvPr/>
        </p:nvSpPr>
        <p:spPr>
          <a:xfrm>
            <a:off x="0" y="1"/>
            <a:ext cx="10080871" cy="5273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E:\Usuarios\Elpellini\Desktop\SEMOP\MakingOf\minerva.jpg" id="31" name="Google Shape;3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760" y="53801"/>
            <a:ext cx="405584" cy="41979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0"/>
          <p:cNvSpPr txBox="1"/>
          <p:nvPr>
            <p:ph type="title"/>
          </p:nvPr>
        </p:nvSpPr>
        <p:spPr>
          <a:xfrm>
            <a:off x="358650" y="780009"/>
            <a:ext cx="9074150" cy="983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>
                <a:solidFill>
                  <a:srgbClr val="0F243E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" type="body"/>
          </p:nvPr>
        </p:nvSpPr>
        <p:spPr>
          <a:xfrm>
            <a:off x="359792" y="1907629"/>
            <a:ext cx="9074150" cy="4733606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rgbClr val="244061"/>
              </a:buClr>
              <a:buSzPts val="3200"/>
              <a:buChar char="•"/>
              <a:defRPr sz="3200">
                <a:solidFill>
                  <a:srgbClr val="244061"/>
                </a:solidFill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244061"/>
              </a:buClr>
              <a:buSzPts val="2800"/>
              <a:buChar char="–"/>
              <a:defRPr sz="2800">
                <a:solidFill>
                  <a:srgbClr val="244061"/>
                </a:solidFill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rgbClr val="244061"/>
              </a:buClr>
              <a:buSzPts val="2400"/>
              <a:buChar char="•"/>
              <a:defRPr sz="2400">
                <a:solidFill>
                  <a:srgbClr val="244061"/>
                </a:solidFill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244061"/>
              </a:buClr>
              <a:buSzPts val="2000"/>
              <a:buChar char="–"/>
              <a:defRPr sz="2000">
                <a:solidFill>
                  <a:srgbClr val="244061"/>
                </a:solidFill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rgbClr val="244061"/>
              </a:buClr>
              <a:buSzPts val="2000"/>
              <a:buChar char="»"/>
              <a:defRPr sz="2000">
                <a:solidFill>
                  <a:srgbClr val="24406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0"/>
          <p:cNvSpPr/>
          <p:nvPr/>
        </p:nvSpPr>
        <p:spPr>
          <a:xfrm>
            <a:off x="-246" y="527399"/>
            <a:ext cx="10080871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35;p20"/>
          <p:cNvSpPr txBox="1"/>
          <p:nvPr/>
        </p:nvSpPr>
        <p:spPr>
          <a:xfrm rot="-5400000">
            <a:off x="9228083" y="6743472"/>
            <a:ext cx="1412578" cy="29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12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200">
              <a:solidFill>
                <a:srgbClr val="FFC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7"/>
          <p:cNvSpPr txBox="1"/>
          <p:nvPr>
            <p:ph type="title"/>
          </p:nvPr>
        </p:nvSpPr>
        <p:spPr>
          <a:xfrm>
            <a:off x="503238" y="303213"/>
            <a:ext cx="9074150" cy="1258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" type="body"/>
          </p:nvPr>
        </p:nvSpPr>
        <p:spPr>
          <a:xfrm>
            <a:off x="503808" y="1651723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>
            <a:lvl1pPr indent="-450850" lvl="0" marL="4572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  <a:defRPr b="0" i="0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25450" lvl="1" marL="914400" marR="0" rtl="0" algn="l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–"/>
              <a:defRPr b="0" i="0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3700" lvl="2" marL="1371600" marR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8300" lvl="4" marL="22860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»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8300" lvl="5" marL="27432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8300" lvl="6" marL="32004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8300" lvl="7" marL="36576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8300" lvl="8" marL="41148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0" type="dt"/>
          </p:nvPr>
        </p:nvSpPr>
        <p:spPr>
          <a:xfrm>
            <a:off x="143768" y="7020197"/>
            <a:ext cx="2352675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2" type="sldNum"/>
          </p:nvPr>
        </p:nvSpPr>
        <p:spPr>
          <a:xfrm>
            <a:off x="7569794" y="7020197"/>
            <a:ext cx="2352675" cy="401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3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2.gif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2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"/>
          <p:cNvSpPr txBox="1"/>
          <p:nvPr>
            <p:ph type="ctrTitle"/>
          </p:nvPr>
        </p:nvSpPr>
        <p:spPr>
          <a:xfrm>
            <a:off x="431800" y="683493"/>
            <a:ext cx="9217024" cy="1152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/>
              <a:t>PSI3441 –</a:t>
            </a:r>
            <a:r>
              <a:rPr lang="pt-BR" sz="3600"/>
              <a:t> </a:t>
            </a:r>
            <a:r>
              <a:rPr b="1" lang="pt-BR" sz="3600"/>
              <a:t>Arquitetura de Sistemas Embarcados</a:t>
            </a:r>
            <a:endParaRPr/>
          </a:p>
        </p:txBody>
      </p:sp>
      <p:sp>
        <p:nvSpPr>
          <p:cNvPr id="41" name="Google Shape;41;p1"/>
          <p:cNvSpPr txBox="1"/>
          <p:nvPr>
            <p:ph idx="1" type="subTitle"/>
          </p:nvPr>
        </p:nvSpPr>
        <p:spPr>
          <a:xfrm>
            <a:off x="408741" y="5147989"/>
            <a:ext cx="7056363" cy="2232248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solidFill>
                  <a:schemeClr val="dk1"/>
                </a:solidFill>
              </a:rPr>
              <a:t>Escola Politécnica da Universidade de São Paulo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solidFill>
                  <a:schemeClr val="dk1"/>
                </a:solidFill>
              </a:rPr>
              <a:t>	Prof. Gustavo Rehder – grehder@lme.usp.br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solidFill>
                  <a:schemeClr val="dk1"/>
                </a:solidFill>
              </a:rPr>
              <a:t>	Prof. Sergio Takeo – kofuji@usp.br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solidFill>
                  <a:schemeClr val="dk1"/>
                </a:solidFill>
              </a:rPr>
              <a:t>	Prof. Antonio Seabra – acseabra@lsi.usp.br </a:t>
            </a:r>
            <a:endParaRPr b="1" sz="2000">
              <a:solidFill>
                <a:schemeClr val="dk1"/>
              </a:solidFill>
            </a:endParaRPr>
          </a:p>
        </p:txBody>
      </p:sp>
      <p:cxnSp>
        <p:nvCxnSpPr>
          <p:cNvPr id="42" name="Google Shape;42;p1"/>
          <p:cNvCxnSpPr/>
          <p:nvPr/>
        </p:nvCxnSpPr>
        <p:spPr>
          <a:xfrm>
            <a:off x="287784" y="5075981"/>
            <a:ext cx="8064896" cy="0"/>
          </a:xfrm>
          <a:prstGeom prst="straightConnector1">
            <a:avLst/>
          </a:prstGeom>
          <a:noFill/>
          <a:ln cap="flat" cmpd="sng" w="38100">
            <a:solidFill>
              <a:srgbClr val="006663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43" name="Google Shape;43;p1"/>
          <p:cNvCxnSpPr/>
          <p:nvPr/>
        </p:nvCxnSpPr>
        <p:spPr>
          <a:xfrm>
            <a:off x="287784" y="3491805"/>
            <a:ext cx="8064896" cy="0"/>
          </a:xfrm>
          <a:prstGeom prst="straightConnector1">
            <a:avLst/>
          </a:prstGeom>
          <a:noFill/>
          <a:ln cap="flat" cmpd="sng" w="38100">
            <a:solidFill>
              <a:srgbClr val="006663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sp>
        <p:nvSpPr>
          <p:cNvPr id="44" name="Google Shape;44;p1"/>
          <p:cNvSpPr txBox="1"/>
          <p:nvPr/>
        </p:nvSpPr>
        <p:spPr>
          <a:xfrm>
            <a:off x="292218" y="3318503"/>
            <a:ext cx="8064475" cy="190149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Arquitetura do µProcessador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/>
          <p:nvPr>
            <p:ph type="title"/>
          </p:nvPr>
        </p:nvSpPr>
        <p:spPr>
          <a:xfrm>
            <a:off x="358650" y="780009"/>
            <a:ext cx="9074150" cy="983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Objetivo do Vídeo</a:t>
            </a:r>
            <a:endParaRPr/>
          </a:p>
        </p:txBody>
      </p:sp>
      <p:sp>
        <p:nvSpPr>
          <p:cNvPr id="50" name="Google Shape;50;p2"/>
          <p:cNvSpPr txBox="1"/>
          <p:nvPr>
            <p:ph idx="1" type="body"/>
          </p:nvPr>
        </p:nvSpPr>
        <p:spPr>
          <a:xfrm>
            <a:off x="287784" y="1907629"/>
            <a:ext cx="9505056" cy="352839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-377825" lvl="0" marL="377825" rtl="0" algn="l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3200"/>
              <a:buChar char="•"/>
            </a:pPr>
            <a:r>
              <a:rPr lang="pt-BR"/>
              <a:t>Entender como o processador executa um programa.</a:t>
            </a:r>
            <a:endParaRPr/>
          </a:p>
          <a:p>
            <a:pPr indent="-377825" lvl="0" marL="377825" rtl="0" algn="l">
              <a:spcBef>
                <a:spcPts val="640"/>
              </a:spcBef>
              <a:spcAft>
                <a:spcPts val="0"/>
              </a:spcAft>
              <a:buClr>
                <a:srgbClr val="244061"/>
              </a:buClr>
              <a:buSzPts val="3200"/>
              <a:buChar char="•"/>
            </a:pPr>
            <a:r>
              <a:rPr lang="pt-BR"/>
              <a:t>O que é o ciclo de máquina.</a:t>
            </a:r>
            <a:endParaRPr/>
          </a:p>
          <a:p>
            <a:pPr indent="-377825" lvl="0" marL="377825" rtl="0" algn="l">
              <a:spcBef>
                <a:spcPts val="640"/>
              </a:spcBef>
              <a:spcAft>
                <a:spcPts val="0"/>
              </a:spcAft>
              <a:buClr>
                <a:srgbClr val="244061"/>
              </a:buClr>
              <a:buSzPts val="3200"/>
              <a:buChar char="•"/>
            </a:pPr>
            <a:r>
              <a:rPr lang="pt-BR"/>
              <a:t>Entender a microarquitetura de processadores.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244061"/>
              </a:buClr>
              <a:buSzPts val="2400"/>
              <a:buNone/>
            </a:pPr>
            <a:r>
              <a:rPr i="1" lang="pt-BR" sz="2400"/>
              <a:t>	(focado no Cortex M0+ da ARM)</a:t>
            </a:r>
            <a:endParaRPr/>
          </a:p>
          <a:p>
            <a:pPr indent="-377825" lvl="0" marL="377825" rtl="0" algn="l">
              <a:spcBef>
                <a:spcPts val="640"/>
              </a:spcBef>
              <a:spcAft>
                <a:spcPts val="0"/>
              </a:spcAft>
              <a:buClr>
                <a:srgbClr val="244061"/>
              </a:buClr>
              <a:buSzPts val="3200"/>
              <a:buChar char="•"/>
            </a:pPr>
            <a:r>
              <a:rPr lang="pt-BR"/>
              <a:t>Conhecer diferentes instruções executadas pelo processador.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24406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 txBox="1"/>
          <p:nvPr>
            <p:ph type="title"/>
          </p:nvPr>
        </p:nvSpPr>
        <p:spPr>
          <a:xfrm>
            <a:off x="358650" y="780009"/>
            <a:ext cx="9074150" cy="983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Tarefa a ser executada pela CPU</a:t>
            </a:r>
            <a:endParaRPr/>
          </a:p>
        </p:txBody>
      </p:sp>
      <p:sp>
        <p:nvSpPr>
          <p:cNvPr id="56" name="Google Shape;56;p3"/>
          <p:cNvSpPr txBox="1"/>
          <p:nvPr>
            <p:ph idx="1" type="body"/>
          </p:nvPr>
        </p:nvSpPr>
        <p:spPr>
          <a:xfrm>
            <a:off x="2441842" y="2051394"/>
            <a:ext cx="909588" cy="64807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3200"/>
              <a:buNone/>
            </a:pPr>
            <a:r>
              <a:rPr lang="pt-BR"/>
              <a:t>2+2</a:t>
            </a:r>
            <a:endParaRPr/>
          </a:p>
        </p:txBody>
      </p:sp>
      <p:pic>
        <p:nvPicPr>
          <p:cNvPr descr="Resultado de imagem para microcontroller cortex m0" id="57" name="Google Shape;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5553" y="1763613"/>
            <a:ext cx="1905000" cy="1905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3"/>
          <p:cNvCxnSpPr>
            <a:stCxn id="56" idx="3"/>
            <a:endCxn id="57" idx="1"/>
          </p:cNvCxnSpPr>
          <p:nvPr/>
        </p:nvCxnSpPr>
        <p:spPr>
          <a:xfrm>
            <a:off x="3351430" y="2375430"/>
            <a:ext cx="2934000" cy="340800"/>
          </a:xfrm>
          <a:prstGeom prst="curvedConnector3">
            <a:avLst>
              <a:gd fmla="val 50002" name="adj1"/>
            </a:avLst>
          </a:prstGeom>
          <a:noFill/>
          <a:ln cap="flat" cmpd="sng" w="76200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" name="Google Shape;59;p3"/>
          <p:cNvCxnSpPr/>
          <p:nvPr/>
        </p:nvCxnSpPr>
        <p:spPr>
          <a:xfrm>
            <a:off x="8264983" y="2699270"/>
            <a:ext cx="360040" cy="0"/>
          </a:xfrm>
          <a:prstGeom prst="straightConnector1">
            <a:avLst/>
          </a:prstGeom>
          <a:noFill/>
          <a:ln cap="flat" cmpd="sng" w="7620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3"/>
          <p:cNvCxnSpPr/>
          <p:nvPr/>
        </p:nvCxnSpPr>
        <p:spPr>
          <a:xfrm>
            <a:off x="8264983" y="2859682"/>
            <a:ext cx="360040" cy="0"/>
          </a:xfrm>
          <a:prstGeom prst="straightConnector1">
            <a:avLst/>
          </a:prstGeom>
          <a:noFill/>
          <a:ln cap="flat" cmpd="sng" w="7620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3"/>
          <p:cNvSpPr txBox="1"/>
          <p:nvPr/>
        </p:nvSpPr>
        <p:spPr>
          <a:xfrm>
            <a:off x="2270741" y="3571859"/>
            <a:ext cx="632887" cy="64807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rgbClr val="24406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3200" u="none" cap="none" strike="noStrike">
              <a:solidFill>
                <a:srgbClr val="2440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279169" y="4067718"/>
            <a:ext cx="1107035" cy="639874"/>
          </a:xfrm>
          <a:custGeom>
            <a:rect b="b" l="l" r="r" t="t"/>
            <a:pathLst>
              <a:path extrusionOk="0" h="2654300" w="1092251">
                <a:moveTo>
                  <a:pt x="12751" y="0"/>
                </a:moveTo>
                <a:cubicBezTo>
                  <a:pt x="-7358" y="578908"/>
                  <a:pt x="-27466" y="1157817"/>
                  <a:pt x="152451" y="1600200"/>
                </a:cubicBezTo>
                <a:cubicBezTo>
                  <a:pt x="332368" y="2042583"/>
                  <a:pt x="901751" y="2520950"/>
                  <a:pt x="1092251" y="265430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2616668" y="4067719"/>
            <a:ext cx="1769536" cy="844388"/>
          </a:xfrm>
          <a:custGeom>
            <a:rect b="b" l="l" r="r" t="t"/>
            <a:pathLst>
              <a:path extrusionOk="0" h="2654300" w="1092251">
                <a:moveTo>
                  <a:pt x="12751" y="0"/>
                </a:moveTo>
                <a:cubicBezTo>
                  <a:pt x="-7358" y="578908"/>
                  <a:pt x="-27466" y="1157817"/>
                  <a:pt x="152451" y="1600200"/>
                </a:cubicBezTo>
                <a:cubicBezTo>
                  <a:pt x="332368" y="2042583"/>
                  <a:pt x="901751" y="2520950"/>
                  <a:pt x="1092251" y="265430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2841368" y="3571859"/>
            <a:ext cx="621135" cy="64807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rgbClr val="24406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3200" u="none" cap="none" strike="noStrike">
              <a:solidFill>
                <a:srgbClr val="2440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3"/>
          <p:cNvCxnSpPr>
            <a:endCxn id="61" idx="0"/>
          </p:cNvCxnSpPr>
          <p:nvPr/>
        </p:nvCxnSpPr>
        <p:spPr>
          <a:xfrm flipH="1">
            <a:off x="2587185" y="2591459"/>
            <a:ext cx="108600" cy="98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66" name="Google Shape;66;p3"/>
          <p:cNvCxnSpPr/>
          <p:nvPr/>
        </p:nvCxnSpPr>
        <p:spPr>
          <a:xfrm flipH="1">
            <a:off x="6586588" y="3520129"/>
            <a:ext cx="286733" cy="974494"/>
          </a:xfrm>
          <a:prstGeom prst="straightConnector1">
            <a:avLst/>
          </a:prstGeom>
          <a:noFill/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7" name="Google Shape;67;p3"/>
          <p:cNvSpPr txBox="1"/>
          <p:nvPr/>
        </p:nvSpPr>
        <p:spPr>
          <a:xfrm>
            <a:off x="8678296" y="2455538"/>
            <a:ext cx="909588" cy="64807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rgbClr val="24406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3200" u="none" cap="none" strike="noStrike">
              <a:solidFill>
                <a:srgbClr val="2440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8029670" y="4524841"/>
            <a:ext cx="641176" cy="64807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rgbClr val="24406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rgbClr val="2440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1051858" y="3632358"/>
            <a:ext cx="1505473" cy="64807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244061"/>
                </a:solidFill>
                <a:latin typeface="Calibri"/>
                <a:ea typeface="Calibri"/>
                <a:cs typeface="Calibri"/>
                <a:sym typeface="Calibri"/>
              </a:rPr>
              <a:t>Binário</a:t>
            </a:r>
            <a:endParaRPr b="0" i="0" sz="2400" u="none" cap="none" strike="noStrike">
              <a:solidFill>
                <a:srgbClr val="2440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m para logical adder 2 bits" id="70" name="Google Shape;7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5895" y="4604949"/>
            <a:ext cx="3533775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/>
          <p:nvPr/>
        </p:nvSpPr>
        <p:spPr>
          <a:xfrm>
            <a:off x="3072610" y="4067718"/>
            <a:ext cx="1423285" cy="1780492"/>
          </a:xfrm>
          <a:custGeom>
            <a:rect b="b" l="l" r="r" t="t"/>
            <a:pathLst>
              <a:path extrusionOk="0" h="2654300" w="1092251">
                <a:moveTo>
                  <a:pt x="12751" y="0"/>
                </a:moveTo>
                <a:cubicBezTo>
                  <a:pt x="-7358" y="578908"/>
                  <a:pt x="-27466" y="1157817"/>
                  <a:pt x="152451" y="1600200"/>
                </a:cubicBezTo>
                <a:cubicBezTo>
                  <a:pt x="332368" y="2042583"/>
                  <a:pt x="901751" y="2520950"/>
                  <a:pt x="1092251" y="265430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2433598" y="4050898"/>
            <a:ext cx="2062297" cy="1997137"/>
          </a:xfrm>
          <a:custGeom>
            <a:rect b="b" l="l" r="r" t="t"/>
            <a:pathLst>
              <a:path extrusionOk="0" h="2654300" w="1092251">
                <a:moveTo>
                  <a:pt x="12751" y="0"/>
                </a:moveTo>
                <a:cubicBezTo>
                  <a:pt x="-7358" y="578908"/>
                  <a:pt x="-27466" y="1157817"/>
                  <a:pt x="152451" y="1600200"/>
                </a:cubicBezTo>
                <a:cubicBezTo>
                  <a:pt x="332368" y="2042583"/>
                  <a:pt x="901751" y="2520950"/>
                  <a:pt x="1092251" y="265430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8029670" y="5666474"/>
            <a:ext cx="641176" cy="64807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rgbClr val="24406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rgbClr val="2440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8029670" y="6269430"/>
            <a:ext cx="641176" cy="64807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rgbClr val="24406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200" u="none" cap="none" strike="noStrike">
              <a:solidFill>
                <a:srgbClr val="2440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8355891" y="4563225"/>
            <a:ext cx="562904" cy="2221089"/>
          </a:xfrm>
          <a:prstGeom prst="rightBrace">
            <a:avLst>
              <a:gd fmla="val 62481" name="adj1"/>
              <a:gd fmla="val 50000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3"/>
          <p:cNvSpPr/>
          <p:nvPr/>
        </p:nvSpPr>
        <p:spPr>
          <a:xfrm rot="-7419779">
            <a:off x="7917508" y="3659218"/>
            <a:ext cx="2406706" cy="1266065"/>
          </a:xfrm>
          <a:custGeom>
            <a:rect b="b" l="l" r="r" t="t"/>
            <a:pathLst>
              <a:path extrusionOk="0" h="2654300" w="1092251">
                <a:moveTo>
                  <a:pt x="12751" y="0"/>
                </a:moveTo>
                <a:cubicBezTo>
                  <a:pt x="-7358" y="578908"/>
                  <a:pt x="-27466" y="1157817"/>
                  <a:pt x="152451" y="1600200"/>
                </a:cubicBezTo>
                <a:cubicBezTo>
                  <a:pt x="332368" y="2042583"/>
                  <a:pt x="901751" y="2520950"/>
                  <a:pt x="1092251" y="265430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1150711" y="6023757"/>
            <a:ext cx="2402917" cy="1110848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244061"/>
                </a:solidFill>
                <a:latin typeface="Calibri"/>
                <a:ea typeface="Calibri"/>
                <a:cs typeface="Calibri"/>
                <a:sym typeface="Calibri"/>
              </a:rPr>
              <a:t>Código de máquina</a:t>
            </a:r>
            <a:endParaRPr b="0" i="0" sz="2800" u="none" cap="none" strike="noStrike">
              <a:solidFill>
                <a:srgbClr val="2440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3"/>
          <p:cNvCxnSpPr/>
          <p:nvPr/>
        </p:nvCxnSpPr>
        <p:spPr>
          <a:xfrm rot="10800000">
            <a:off x="1804594" y="4219931"/>
            <a:ext cx="466147" cy="1874074"/>
          </a:xfrm>
          <a:prstGeom prst="straightConnector1">
            <a:avLst/>
          </a:prstGeom>
          <a:noFill/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" name="Google Shape;79;p3"/>
          <p:cNvSpPr txBox="1"/>
          <p:nvPr/>
        </p:nvSpPr>
        <p:spPr>
          <a:xfrm>
            <a:off x="85792" y="1637093"/>
            <a:ext cx="2173242" cy="1110848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244061"/>
                </a:solidFill>
                <a:latin typeface="Calibri"/>
                <a:ea typeface="Calibri"/>
                <a:cs typeface="Calibri"/>
                <a:sym typeface="Calibri"/>
              </a:rPr>
              <a:t>Programa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rgbClr val="24406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244061"/>
                </a:solidFill>
                <a:latin typeface="Calibri"/>
                <a:ea typeface="Calibri"/>
                <a:cs typeface="Calibri"/>
                <a:sym typeface="Calibri"/>
              </a:rPr>
              <a:t>(C, C++, Basic, Pascal, Python, Assembler, VLPs) </a:t>
            </a:r>
            <a:endParaRPr b="0" i="0" sz="2000" u="none" cap="none" strike="noStrike">
              <a:solidFill>
                <a:srgbClr val="2440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3"/>
          <p:cNvCxnSpPr/>
          <p:nvPr/>
        </p:nvCxnSpPr>
        <p:spPr>
          <a:xfrm>
            <a:off x="2010637" y="2142266"/>
            <a:ext cx="431205" cy="131568"/>
          </a:xfrm>
          <a:prstGeom prst="straightConnector1">
            <a:avLst/>
          </a:prstGeom>
          <a:noFill/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" name="Google Shape;81;p3"/>
          <p:cNvSpPr txBox="1"/>
          <p:nvPr/>
        </p:nvSpPr>
        <p:spPr>
          <a:xfrm>
            <a:off x="4649625" y="6929429"/>
            <a:ext cx="4028671" cy="503078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244061"/>
                </a:solidFill>
                <a:latin typeface="Calibri"/>
                <a:ea typeface="Calibri"/>
                <a:cs typeface="Calibri"/>
                <a:sym typeface="Calibri"/>
              </a:rPr>
              <a:t>Somador de 2 bits</a:t>
            </a:r>
            <a:endParaRPr b="0" i="0" sz="2800" u="none" cap="none" strike="noStrike">
              <a:solidFill>
                <a:srgbClr val="2440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2551278" y="2779574"/>
            <a:ext cx="2402917" cy="1110848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244061"/>
                </a:solidFill>
                <a:latin typeface="Calibri"/>
                <a:ea typeface="Calibri"/>
                <a:cs typeface="Calibri"/>
                <a:sym typeface="Calibri"/>
              </a:rPr>
              <a:t>Compilação</a:t>
            </a:r>
            <a:endParaRPr b="0" i="0" sz="2800" u="none" cap="none" strike="noStrike">
              <a:solidFill>
                <a:srgbClr val="2440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4993" y="3580541"/>
            <a:ext cx="1532037" cy="909991"/>
          </a:xfrm>
          <a:prstGeom prst="rect">
            <a:avLst/>
          </a:prstGeom>
          <a:gradFill>
            <a:gsLst>
              <a:gs pos="0">
                <a:srgbClr val="2D5C97"/>
              </a:gs>
              <a:gs pos="80000">
                <a:srgbClr val="3C7AC5"/>
              </a:gs>
              <a:gs pos="100000">
                <a:srgbClr val="397BC9"/>
              </a:gs>
            </a:gsLst>
            <a:lin ang="16200000" scaled="0"/>
          </a:gradFill>
          <a:ln>
            <a:noFill/>
          </a:ln>
        </p:spPr>
      </p:pic>
      <p:cxnSp>
        <p:nvCxnSpPr>
          <p:cNvPr id="84" name="Google Shape;84;p3"/>
          <p:cNvCxnSpPr/>
          <p:nvPr/>
        </p:nvCxnSpPr>
        <p:spPr>
          <a:xfrm flipH="1" rot="10800000">
            <a:off x="5437257" y="4280431"/>
            <a:ext cx="179119" cy="507518"/>
          </a:xfrm>
          <a:prstGeom prst="straightConnector1">
            <a:avLst/>
          </a:prstGeom>
          <a:noFill/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 txBox="1"/>
          <p:nvPr>
            <p:ph type="title"/>
          </p:nvPr>
        </p:nvSpPr>
        <p:spPr>
          <a:xfrm>
            <a:off x="358650" y="780009"/>
            <a:ext cx="9074150" cy="983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Dentro da CPU – Ciclo de Máquina</a:t>
            </a:r>
            <a:endParaRPr/>
          </a:p>
        </p:txBody>
      </p:sp>
      <p:sp>
        <p:nvSpPr>
          <p:cNvPr id="90" name="Google Shape;90;p4"/>
          <p:cNvSpPr txBox="1"/>
          <p:nvPr>
            <p:ph idx="1" type="body"/>
          </p:nvPr>
        </p:nvSpPr>
        <p:spPr>
          <a:xfrm>
            <a:off x="2441842" y="2051394"/>
            <a:ext cx="909588" cy="64807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3200"/>
              <a:buNone/>
            </a:pPr>
            <a:r>
              <a:rPr lang="pt-BR"/>
              <a:t>2+2</a:t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2916038" y="5384666"/>
            <a:ext cx="2016224" cy="97508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Unidade de Controle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076278" y="5384666"/>
            <a:ext cx="2016224" cy="975088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2916038" y="6470080"/>
            <a:ext cx="4176464" cy="975088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Memória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4" name="Google Shape;94;p4"/>
          <p:cNvCxnSpPr>
            <a:stCxn id="93" idx="1"/>
            <a:endCxn id="91" idx="1"/>
          </p:cNvCxnSpPr>
          <p:nvPr/>
        </p:nvCxnSpPr>
        <p:spPr>
          <a:xfrm flipH="1" rot="10800000">
            <a:off x="2916038" y="5872224"/>
            <a:ext cx="600" cy="1085400"/>
          </a:xfrm>
          <a:prstGeom prst="bentConnector3">
            <a:avLst>
              <a:gd fmla="val -72928840" name="adj1"/>
            </a:avLst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5" name="Google Shape;95;p4"/>
          <p:cNvSpPr txBox="1"/>
          <p:nvPr/>
        </p:nvSpPr>
        <p:spPr>
          <a:xfrm>
            <a:off x="400216" y="5814752"/>
            <a:ext cx="206482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1º Passo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“FETCH”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Busca as instruções na memória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2891736" y="3827127"/>
            <a:ext cx="206482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2º Passo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“DECODE”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Decodifica as instruções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7" name="Google Shape;97;p4"/>
          <p:cNvCxnSpPr>
            <a:stCxn id="92" idx="3"/>
            <a:endCxn id="93" idx="3"/>
          </p:cNvCxnSpPr>
          <p:nvPr/>
        </p:nvCxnSpPr>
        <p:spPr>
          <a:xfrm>
            <a:off x="7092502" y="5872210"/>
            <a:ext cx="600" cy="1085400"/>
          </a:xfrm>
          <a:prstGeom prst="bentConnector3">
            <a:avLst>
              <a:gd fmla="val 88900000" name="adj1"/>
            </a:avLst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8" name="Google Shape;98;p4"/>
          <p:cNvSpPr txBox="1"/>
          <p:nvPr/>
        </p:nvSpPr>
        <p:spPr>
          <a:xfrm>
            <a:off x="7645882" y="5814752"/>
            <a:ext cx="206482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4º Passo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“STORE”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Armazena os resultados na memória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5253139" y="4075226"/>
            <a:ext cx="206482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3º Passo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“EXECUTE”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Executa as instruções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0" name="Google Shape;100;p4"/>
          <p:cNvCxnSpPr>
            <a:stCxn id="96" idx="2"/>
            <a:endCxn id="91" idx="0"/>
          </p:cNvCxnSpPr>
          <p:nvPr/>
        </p:nvCxnSpPr>
        <p:spPr>
          <a:xfrm>
            <a:off x="3924150" y="5027456"/>
            <a:ext cx="0" cy="3573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Resultado de imagem para microcontroller cortex m0"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5553" y="1763613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 txBox="1"/>
          <p:nvPr/>
        </p:nvSpPr>
        <p:spPr>
          <a:xfrm>
            <a:off x="8678296" y="2455538"/>
            <a:ext cx="909588" cy="648072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rgbClr val="24406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3200" u="none" cap="none" strike="noStrike">
              <a:solidFill>
                <a:srgbClr val="2440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4"/>
          <p:cNvCxnSpPr/>
          <p:nvPr/>
        </p:nvCxnSpPr>
        <p:spPr>
          <a:xfrm flipH="1">
            <a:off x="6586588" y="3520129"/>
            <a:ext cx="286733" cy="974494"/>
          </a:xfrm>
          <a:prstGeom prst="straightConnector1">
            <a:avLst/>
          </a:prstGeom>
          <a:noFill/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" name="Google Shape;104;p4"/>
          <p:cNvCxnSpPr/>
          <p:nvPr/>
        </p:nvCxnSpPr>
        <p:spPr>
          <a:xfrm>
            <a:off x="6120432" y="5027456"/>
            <a:ext cx="0" cy="35721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" name="Google Shape;105;p4"/>
          <p:cNvCxnSpPr/>
          <p:nvPr/>
        </p:nvCxnSpPr>
        <p:spPr>
          <a:xfrm>
            <a:off x="2891736" y="2555701"/>
            <a:ext cx="459694" cy="4401923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pic>
        <p:nvPicPr>
          <p:cNvPr descr="Resultado de imagem para logical adder 2 bits" id="106" name="Google Shape;10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4599" y="4730958"/>
            <a:ext cx="3533775" cy="2352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p4"/>
          <p:cNvCxnSpPr/>
          <p:nvPr/>
        </p:nvCxnSpPr>
        <p:spPr>
          <a:xfrm flipH="1" rot="10800000">
            <a:off x="6608176" y="3020094"/>
            <a:ext cx="2247465" cy="4047856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08" name="Google Shape;108;p4"/>
          <p:cNvSpPr txBox="1"/>
          <p:nvPr/>
        </p:nvSpPr>
        <p:spPr>
          <a:xfrm>
            <a:off x="-63349" y="4620954"/>
            <a:ext cx="313243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 = Arithimetic and Logic Unit (ULA em português)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5"/>
          <p:cNvGrpSpPr/>
          <p:nvPr/>
        </p:nvGrpSpPr>
        <p:grpSpPr>
          <a:xfrm>
            <a:off x="358650" y="2903232"/>
            <a:ext cx="9301100" cy="4521352"/>
            <a:chOff x="358650" y="2903232"/>
            <a:chExt cx="9301100" cy="4521352"/>
          </a:xfrm>
        </p:grpSpPr>
        <p:sp>
          <p:nvSpPr>
            <p:cNvPr id="114" name="Google Shape;114;p5"/>
            <p:cNvSpPr/>
            <p:nvPr/>
          </p:nvSpPr>
          <p:spPr>
            <a:xfrm>
              <a:off x="7715781" y="3310355"/>
              <a:ext cx="1943969" cy="4114229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Memória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4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(Grande e Lenta)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1861189" y="2903232"/>
              <a:ext cx="1943969" cy="2618470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8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Propósito Geral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2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(Pequena e Rápida)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 rot="-5400000">
              <a:off x="3676612" y="3983226"/>
              <a:ext cx="1847054" cy="501311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8C3A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4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Controle</a:t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7" name="Google Shape;117;p5"/>
            <p:cNvCxnSpPr/>
            <p:nvPr/>
          </p:nvCxnSpPr>
          <p:spPr>
            <a:xfrm>
              <a:off x="7200552" y="4619590"/>
              <a:ext cx="4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18" name="Google Shape;118;p5"/>
            <p:cNvCxnSpPr/>
            <p:nvPr/>
          </p:nvCxnSpPr>
          <p:spPr>
            <a:xfrm rot="10800000">
              <a:off x="7217017" y="3709512"/>
              <a:ext cx="4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119" name="Google Shape;119;p5"/>
            <p:cNvSpPr txBox="1"/>
            <p:nvPr/>
          </p:nvSpPr>
          <p:spPr>
            <a:xfrm>
              <a:off x="3520019" y="552170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Operando 2</a:t>
              </a:r>
              <a:endParaRPr b="1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0" name="Google Shape;120;p5"/>
            <p:cNvCxnSpPr/>
            <p:nvPr/>
          </p:nvCxnSpPr>
          <p:spPr>
            <a:xfrm rot="10800000">
              <a:off x="4981745" y="6170453"/>
              <a:ext cx="557399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21" name="Google Shape;121;p5"/>
            <p:cNvCxnSpPr/>
            <p:nvPr/>
          </p:nvCxnSpPr>
          <p:spPr>
            <a:xfrm>
              <a:off x="358650" y="3419797"/>
              <a:ext cx="0" cy="393365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 rot="10800000">
              <a:off x="358650" y="3440584"/>
              <a:ext cx="151091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7200044" y="7092205"/>
              <a:ext cx="515737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4" name="Google Shape;124;p5"/>
            <p:cNvSpPr/>
            <p:nvPr/>
          </p:nvSpPr>
          <p:spPr>
            <a:xfrm>
              <a:off x="1869564" y="5849949"/>
              <a:ext cx="1943969" cy="1200835"/>
            </a:xfrm>
            <a:custGeom>
              <a:rect b="b" l="l" r="r" t="t"/>
              <a:pathLst>
                <a:path extrusionOk="0" h="1193074" w="2295391">
                  <a:moveTo>
                    <a:pt x="0" y="0"/>
                  </a:moveTo>
                  <a:lnTo>
                    <a:pt x="522514" y="0"/>
                  </a:lnTo>
                  <a:lnTo>
                    <a:pt x="664039" y="386189"/>
                  </a:lnTo>
                  <a:lnTo>
                    <a:pt x="1607805" y="386189"/>
                  </a:lnTo>
                  <a:lnTo>
                    <a:pt x="1750423" y="10073"/>
                  </a:lnTo>
                  <a:lnTo>
                    <a:pt x="2295391" y="6400"/>
                  </a:lnTo>
                  <a:lnTo>
                    <a:pt x="1663337" y="1193074"/>
                  </a:lnTo>
                  <a:lnTo>
                    <a:pt x="635725" y="11930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cap="flat" cmpd="sng" w="25400">
              <a:solidFill>
                <a:srgbClr val="B46D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4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</a:t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5549558" y="6648121"/>
              <a:ext cx="1656078" cy="776463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4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Dados</a:t>
              </a:r>
              <a:endPara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5549558" y="5720948"/>
              <a:ext cx="1656078" cy="767919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4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Endereço da Memória</a:t>
              </a:r>
              <a:endPara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7" name="Google Shape;127;p5"/>
            <p:cNvCxnSpPr/>
            <p:nvPr/>
          </p:nvCxnSpPr>
          <p:spPr>
            <a:xfrm rot="10800000">
              <a:off x="7200552" y="6138655"/>
              <a:ext cx="483992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 rot="10800000">
              <a:off x="3564407" y="5521702"/>
              <a:ext cx="6312" cy="32824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 rot="10800000">
              <a:off x="2124247" y="5521702"/>
              <a:ext cx="0" cy="32824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130" name="Google Shape;130;p5"/>
            <p:cNvSpPr/>
            <p:nvPr/>
          </p:nvSpPr>
          <p:spPr>
            <a:xfrm>
              <a:off x="5543966" y="3314327"/>
              <a:ext cx="1656078" cy="787978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188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3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Contador de Programa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5543966" y="4241500"/>
              <a:ext cx="1656078" cy="787978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188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2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Instrução</a:t>
              </a:r>
              <a:endPara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" name="Google Shape;132;p5"/>
            <p:cNvSpPr txBox="1"/>
            <p:nvPr/>
          </p:nvSpPr>
          <p:spPr>
            <a:xfrm>
              <a:off x="2044123" y="552170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Operando 1</a:t>
              </a:r>
              <a:endParaRPr b="1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3" name="Google Shape;133;p5"/>
            <p:cNvCxnSpPr/>
            <p:nvPr/>
          </p:nvCxnSpPr>
          <p:spPr>
            <a:xfrm rot="10800000">
              <a:off x="358650" y="7353449"/>
              <a:ext cx="518049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 rot="10800000">
              <a:off x="2833172" y="7064375"/>
              <a:ext cx="0" cy="28907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4981745" y="6189607"/>
              <a:ext cx="0" cy="116384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 rot="5400000">
              <a:off x="3184556" y="5342932"/>
              <a:ext cx="1647455" cy="1303395"/>
            </a:xfrm>
            <a:prstGeom prst="bentConnector2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37" name="Google Shape;137;p5"/>
            <p:cNvSpPr txBox="1"/>
            <p:nvPr/>
          </p:nvSpPr>
          <p:spPr>
            <a:xfrm>
              <a:off x="3505817" y="655419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Operação</a:t>
              </a:r>
              <a:endParaRPr b="1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8" name="Google Shape;138;p5"/>
            <p:cNvCxnSpPr/>
            <p:nvPr/>
          </p:nvCxnSpPr>
          <p:spPr>
            <a:xfrm rot="10800000">
              <a:off x="4850794" y="3709512"/>
              <a:ext cx="6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3805158" y="3440584"/>
              <a:ext cx="544325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40" name="Google Shape;140;p5"/>
            <p:cNvCxnSpPr/>
            <p:nvPr/>
          </p:nvCxnSpPr>
          <p:spPr>
            <a:xfrm>
              <a:off x="4850794" y="4619590"/>
              <a:ext cx="675276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</p:grpSp>
      <p:sp>
        <p:nvSpPr>
          <p:cNvPr id="141" name="Google Shape;141;p5"/>
          <p:cNvSpPr txBox="1"/>
          <p:nvPr>
            <p:ph type="title"/>
          </p:nvPr>
        </p:nvSpPr>
        <p:spPr>
          <a:xfrm>
            <a:off x="345012" y="560206"/>
            <a:ext cx="9506198" cy="983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Arquitetura Simplificada “Load/Store”</a:t>
            </a:r>
            <a:endParaRPr sz="3200"/>
          </a:p>
        </p:txBody>
      </p:sp>
      <p:graphicFrame>
        <p:nvGraphicFramePr>
          <p:cNvPr id="142" name="Google Shape;142;p5"/>
          <p:cNvGraphicFramePr/>
          <p:nvPr/>
        </p:nvGraphicFramePr>
        <p:xfrm>
          <a:off x="7799747" y="39528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360050"/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3" name="Google Shape;143;p5"/>
          <p:cNvGraphicFramePr/>
          <p:nvPr/>
        </p:nvGraphicFramePr>
        <p:xfrm>
          <a:off x="1945155" y="3695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502875"/>
                <a:gridCol w="1273175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4" name="Google Shape;144;p5"/>
          <p:cNvSpPr txBox="1"/>
          <p:nvPr/>
        </p:nvSpPr>
        <p:spPr>
          <a:xfrm>
            <a:off x="85005" y="1385513"/>
            <a:ext cx="9766205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CPU não faz operações na Memória, todas as operações são realizadas pela ULA utilizando dados do Registrador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programa e os dados são gravados na Memória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programa é executado sequencialmente, uma instrução em cada linha da memória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5" name="Google Shape;145;p5"/>
          <p:cNvGraphicFramePr/>
          <p:nvPr/>
        </p:nvGraphicFramePr>
        <p:xfrm>
          <a:off x="5680722" y="60022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6" name="Google Shape;146;p5"/>
          <p:cNvGraphicFramePr/>
          <p:nvPr/>
        </p:nvGraphicFramePr>
        <p:xfrm>
          <a:off x="5675130" y="36157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7" name="Google Shape;147;p5"/>
          <p:cNvGraphicFramePr/>
          <p:nvPr/>
        </p:nvGraphicFramePr>
        <p:xfrm>
          <a:off x="5675130" y="45429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8" name="Google Shape;148;p5"/>
          <p:cNvGraphicFramePr/>
          <p:nvPr/>
        </p:nvGraphicFramePr>
        <p:xfrm>
          <a:off x="2419458" y="66348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8641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9" name="Google Shape;149;p5"/>
          <p:cNvGraphicFramePr/>
          <p:nvPr/>
        </p:nvGraphicFramePr>
        <p:xfrm>
          <a:off x="5666804" y="69748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6"/>
          <p:cNvGrpSpPr/>
          <p:nvPr/>
        </p:nvGrpSpPr>
        <p:grpSpPr>
          <a:xfrm>
            <a:off x="358650" y="2903232"/>
            <a:ext cx="9301100" cy="4521352"/>
            <a:chOff x="358650" y="2903232"/>
            <a:chExt cx="9301100" cy="4521352"/>
          </a:xfrm>
        </p:grpSpPr>
        <p:sp>
          <p:nvSpPr>
            <p:cNvPr id="155" name="Google Shape;155;p6"/>
            <p:cNvSpPr/>
            <p:nvPr/>
          </p:nvSpPr>
          <p:spPr>
            <a:xfrm>
              <a:off x="7715781" y="3310355"/>
              <a:ext cx="1943969" cy="4114229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Memória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4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(Grande e Lenta)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" name="Google Shape;156;p6"/>
            <p:cNvSpPr/>
            <p:nvPr/>
          </p:nvSpPr>
          <p:spPr>
            <a:xfrm>
              <a:off x="1861189" y="2903232"/>
              <a:ext cx="1943969" cy="2618470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8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Propósito Geral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2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(Pequena e Rápida)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" name="Google Shape;157;p6"/>
            <p:cNvSpPr/>
            <p:nvPr/>
          </p:nvSpPr>
          <p:spPr>
            <a:xfrm rot="-5400000">
              <a:off x="3676612" y="3983226"/>
              <a:ext cx="1847054" cy="501311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8C3A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4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Controle</a:t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58" name="Google Shape;158;p6"/>
            <p:cNvCxnSpPr/>
            <p:nvPr/>
          </p:nvCxnSpPr>
          <p:spPr>
            <a:xfrm>
              <a:off x="7200552" y="4619590"/>
              <a:ext cx="4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 rot="10800000">
              <a:off x="7217017" y="3709512"/>
              <a:ext cx="4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160" name="Google Shape;160;p6"/>
            <p:cNvSpPr txBox="1"/>
            <p:nvPr/>
          </p:nvSpPr>
          <p:spPr>
            <a:xfrm>
              <a:off x="3520019" y="552170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Operando 2</a:t>
              </a:r>
              <a:endParaRPr b="1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61" name="Google Shape;161;p6"/>
            <p:cNvCxnSpPr/>
            <p:nvPr/>
          </p:nvCxnSpPr>
          <p:spPr>
            <a:xfrm rot="10800000">
              <a:off x="4981745" y="6170453"/>
              <a:ext cx="557399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358650" y="3419797"/>
              <a:ext cx="0" cy="393365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 rot="10800000">
              <a:off x="358650" y="3440584"/>
              <a:ext cx="151091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7200044" y="7092205"/>
              <a:ext cx="515737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5" name="Google Shape;165;p6"/>
            <p:cNvSpPr/>
            <p:nvPr/>
          </p:nvSpPr>
          <p:spPr>
            <a:xfrm>
              <a:off x="1869564" y="5849949"/>
              <a:ext cx="1943969" cy="1200835"/>
            </a:xfrm>
            <a:custGeom>
              <a:rect b="b" l="l" r="r" t="t"/>
              <a:pathLst>
                <a:path extrusionOk="0" h="1193074" w="2295391">
                  <a:moveTo>
                    <a:pt x="0" y="0"/>
                  </a:moveTo>
                  <a:lnTo>
                    <a:pt x="522514" y="0"/>
                  </a:lnTo>
                  <a:lnTo>
                    <a:pt x="664039" y="386189"/>
                  </a:lnTo>
                  <a:lnTo>
                    <a:pt x="1607805" y="386189"/>
                  </a:lnTo>
                  <a:lnTo>
                    <a:pt x="1750423" y="10073"/>
                  </a:lnTo>
                  <a:lnTo>
                    <a:pt x="2295391" y="6400"/>
                  </a:lnTo>
                  <a:lnTo>
                    <a:pt x="1663337" y="1193074"/>
                  </a:lnTo>
                  <a:lnTo>
                    <a:pt x="635725" y="11930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cap="flat" cmpd="sng" w="25400">
              <a:solidFill>
                <a:srgbClr val="B46D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4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</a:t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" name="Google Shape;166;p6"/>
            <p:cNvSpPr/>
            <p:nvPr/>
          </p:nvSpPr>
          <p:spPr>
            <a:xfrm>
              <a:off x="5549558" y="6648121"/>
              <a:ext cx="1656078" cy="776463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4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Dados</a:t>
              </a:r>
              <a:endPara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5549558" y="5720948"/>
              <a:ext cx="1656078" cy="767919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4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Endereço da Memória</a:t>
              </a:r>
              <a:endPara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68" name="Google Shape;168;p6"/>
            <p:cNvCxnSpPr/>
            <p:nvPr/>
          </p:nvCxnSpPr>
          <p:spPr>
            <a:xfrm rot="10800000">
              <a:off x="7200552" y="6138655"/>
              <a:ext cx="483992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 rot="10800000">
              <a:off x="3564407" y="5521702"/>
              <a:ext cx="6312" cy="32824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 rot="10800000">
              <a:off x="2124247" y="5521702"/>
              <a:ext cx="0" cy="32824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171" name="Google Shape;171;p6"/>
            <p:cNvSpPr/>
            <p:nvPr/>
          </p:nvSpPr>
          <p:spPr>
            <a:xfrm>
              <a:off x="5543966" y="3314327"/>
              <a:ext cx="1656078" cy="787978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188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3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Contador de Programa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5543966" y="4241500"/>
              <a:ext cx="1656078" cy="787978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188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12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Instrução</a:t>
              </a:r>
              <a:endParaRPr b="0" i="0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3" name="Google Shape;173;p6"/>
            <p:cNvSpPr txBox="1"/>
            <p:nvPr/>
          </p:nvSpPr>
          <p:spPr>
            <a:xfrm>
              <a:off x="2044123" y="552170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Operando 1</a:t>
              </a:r>
              <a:endParaRPr b="1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74" name="Google Shape;174;p6"/>
            <p:cNvCxnSpPr/>
            <p:nvPr/>
          </p:nvCxnSpPr>
          <p:spPr>
            <a:xfrm rot="10800000">
              <a:off x="358650" y="7353449"/>
              <a:ext cx="518049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75" name="Google Shape;175;p6"/>
            <p:cNvCxnSpPr/>
            <p:nvPr/>
          </p:nvCxnSpPr>
          <p:spPr>
            <a:xfrm rot="10800000">
              <a:off x="2833172" y="7064375"/>
              <a:ext cx="0" cy="28907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76" name="Google Shape;176;p6"/>
            <p:cNvCxnSpPr/>
            <p:nvPr/>
          </p:nvCxnSpPr>
          <p:spPr>
            <a:xfrm>
              <a:off x="4981745" y="6189607"/>
              <a:ext cx="0" cy="116384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" name="Google Shape;177;p6"/>
            <p:cNvCxnSpPr/>
            <p:nvPr/>
          </p:nvCxnSpPr>
          <p:spPr>
            <a:xfrm rot="5400000">
              <a:off x="3184556" y="5342932"/>
              <a:ext cx="1647455" cy="1303395"/>
            </a:xfrm>
            <a:prstGeom prst="bentConnector2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78" name="Google Shape;178;p6"/>
            <p:cNvSpPr txBox="1"/>
            <p:nvPr/>
          </p:nvSpPr>
          <p:spPr>
            <a:xfrm>
              <a:off x="3505817" y="655419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1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Operação</a:t>
              </a:r>
              <a:endParaRPr b="1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79" name="Google Shape;179;p6"/>
            <p:cNvCxnSpPr/>
            <p:nvPr/>
          </p:nvCxnSpPr>
          <p:spPr>
            <a:xfrm rot="10800000">
              <a:off x="4850794" y="3709512"/>
              <a:ext cx="6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80" name="Google Shape;180;p6"/>
            <p:cNvCxnSpPr/>
            <p:nvPr/>
          </p:nvCxnSpPr>
          <p:spPr>
            <a:xfrm>
              <a:off x="3805158" y="3440584"/>
              <a:ext cx="544325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81" name="Google Shape;181;p6"/>
            <p:cNvCxnSpPr/>
            <p:nvPr/>
          </p:nvCxnSpPr>
          <p:spPr>
            <a:xfrm>
              <a:off x="4850794" y="4619590"/>
              <a:ext cx="675276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</p:grpSp>
      <p:sp>
        <p:nvSpPr>
          <p:cNvPr id="182" name="Google Shape;182;p6"/>
          <p:cNvSpPr txBox="1"/>
          <p:nvPr>
            <p:ph type="title"/>
          </p:nvPr>
        </p:nvSpPr>
        <p:spPr>
          <a:xfrm>
            <a:off x="345012" y="560206"/>
            <a:ext cx="9506198" cy="983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Arquitetura Simplificada “Load/Store”</a:t>
            </a:r>
            <a:endParaRPr sz="3200"/>
          </a:p>
        </p:txBody>
      </p:sp>
      <p:graphicFrame>
        <p:nvGraphicFramePr>
          <p:cNvPr id="183" name="Google Shape;183;p6"/>
          <p:cNvGraphicFramePr/>
          <p:nvPr/>
        </p:nvGraphicFramePr>
        <p:xfrm>
          <a:off x="7799747" y="39528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360050"/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4" name="Google Shape;184;p6"/>
          <p:cNvGraphicFramePr/>
          <p:nvPr/>
        </p:nvGraphicFramePr>
        <p:xfrm>
          <a:off x="5680722" y="60022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5" name="Google Shape;185;p6"/>
          <p:cNvGraphicFramePr/>
          <p:nvPr/>
        </p:nvGraphicFramePr>
        <p:xfrm>
          <a:off x="5675130" y="36157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6" name="Google Shape;186;p6"/>
          <p:cNvGraphicFramePr/>
          <p:nvPr/>
        </p:nvGraphicFramePr>
        <p:xfrm>
          <a:off x="5675130" y="45429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7" name="Google Shape;187;p6"/>
          <p:cNvGraphicFramePr/>
          <p:nvPr/>
        </p:nvGraphicFramePr>
        <p:xfrm>
          <a:off x="2419458" y="66348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8641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8" name="Google Shape;188;p6"/>
          <p:cNvGraphicFramePr/>
          <p:nvPr/>
        </p:nvGraphicFramePr>
        <p:xfrm>
          <a:off x="5666804" y="69748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6"/>
          <p:cNvSpPr txBox="1"/>
          <p:nvPr/>
        </p:nvSpPr>
        <p:spPr>
          <a:xfrm>
            <a:off x="345012" y="1399591"/>
            <a:ext cx="7112653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Tipos de Operação (Instruction Set Architecture – ISA): 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Transferência – Leitura, Escrita...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Dados – Adição, Subtração, Multiplicação, Divisão, Lógica...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Sequenciamento – Jump, Branch...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7342117" y="1661563"/>
            <a:ext cx="357199" cy="113961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7715781" y="1877429"/>
            <a:ext cx="168705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 do Processador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2" name="Google Shape;192;p6"/>
          <p:cNvGraphicFramePr/>
          <p:nvPr/>
        </p:nvGraphicFramePr>
        <p:xfrm>
          <a:off x="1945155" y="3695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502875"/>
                <a:gridCol w="1273175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7"/>
          <p:cNvGrpSpPr/>
          <p:nvPr/>
        </p:nvGrpSpPr>
        <p:grpSpPr>
          <a:xfrm>
            <a:off x="358650" y="2903232"/>
            <a:ext cx="9301100" cy="4521352"/>
            <a:chOff x="358650" y="2903232"/>
            <a:chExt cx="9301100" cy="4521352"/>
          </a:xfrm>
        </p:grpSpPr>
        <p:sp>
          <p:nvSpPr>
            <p:cNvPr id="198" name="Google Shape;198;p7"/>
            <p:cNvSpPr/>
            <p:nvPr/>
          </p:nvSpPr>
          <p:spPr>
            <a:xfrm>
              <a:off x="7715781" y="3310355"/>
              <a:ext cx="1943969" cy="4114229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Memória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(Grande e Lenta)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1861189" y="2903232"/>
              <a:ext cx="1943969" cy="2618470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Propósito Geral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(Pequena e Rápida)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 rot="-5400000">
              <a:off x="3676612" y="3983226"/>
              <a:ext cx="1847054" cy="501311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8C3A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Controle</a:t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01" name="Google Shape;201;p7"/>
            <p:cNvCxnSpPr/>
            <p:nvPr/>
          </p:nvCxnSpPr>
          <p:spPr>
            <a:xfrm>
              <a:off x="7200552" y="4619590"/>
              <a:ext cx="4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202" name="Google Shape;202;p7"/>
            <p:cNvCxnSpPr/>
            <p:nvPr/>
          </p:nvCxnSpPr>
          <p:spPr>
            <a:xfrm rot="10800000">
              <a:off x="7217017" y="3709512"/>
              <a:ext cx="4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203" name="Google Shape;203;p7"/>
            <p:cNvSpPr txBox="1"/>
            <p:nvPr/>
          </p:nvSpPr>
          <p:spPr>
            <a:xfrm>
              <a:off x="3520019" y="552170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Operando 2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04" name="Google Shape;204;p7"/>
            <p:cNvCxnSpPr/>
            <p:nvPr/>
          </p:nvCxnSpPr>
          <p:spPr>
            <a:xfrm rot="10800000">
              <a:off x="4981745" y="6170453"/>
              <a:ext cx="557399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205" name="Google Shape;205;p7"/>
            <p:cNvCxnSpPr/>
            <p:nvPr/>
          </p:nvCxnSpPr>
          <p:spPr>
            <a:xfrm>
              <a:off x="358650" y="3419797"/>
              <a:ext cx="0" cy="393365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6" name="Google Shape;206;p7"/>
            <p:cNvCxnSpPr/>
            <p:nvPr/>
          </p:nvCxnSpPr>
          <p:spPr>
            <a:xfrm rot="10800000">
              <a:off x="358650" y="3440584"/>
              <a:ext cx="151091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207" name="Google Shape;207;p7"/>
            <p:cNvCxnSpPr/>
            <p:nvPr/>
          </p:nvCxnSpPr>
          <p:spPr>
            <a:xfrm>
              <a:off x="7200044" y="7092205"/>
              <a:ext cx="515737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08" name="Google Shape;208;p7"/>
            <p:cNvSpPr/>
            <p:nvPr/>
          </p:nvSpPr>
          <p:spPr>
            <a:xfrm>
              <a:off x="1869564" y="5849949"/>
              <a:ext cx="1943969" cy="1200835"/>
            </a:xfrm>
            <a:custGeom>
              <a:rect b="b" l="l" r="r" t="t"/>
              <a:pathLst>
                <a:path extrusionOk="0" h="1193074" w="2295391">
                  <a:moveTo>
                    <a:pt x="0" y="0"/>
                  </a:moveTo>
                  <a:lnTo>
                    <a:pt x="522514" y="0"/>
                  </a:lnTo>
                  <a:lnTo>
                    <a:pt x="664039" y="386189"/>
                  </a:lnTo>
                  <a:lnTo>
                    <a:pt x="1607805" y="386189"/>
                  </a:lnTo>
                  <a:lnTo>
                    <a:pt x="1750423" y="10073"/>
                  </a:lnTo>
                  <a:lnTo>
                    <a:pt x="2295391" y="6400"/>
                  </a:lnTo>
                  <a:lnTo>
                    <a:pt x="1663337" y="1193074"/>
                  </a:lnTo>
                  <a:lnTo>
                    <a:pt x="635725" y="11930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cap="flat" cmpd="sng" w="25400">
              <a:solidFill>
                <a:srgbClr val="B46D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</a:t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5549558" y="6648121"/>
              <a:ext cx="1656078" cy="776463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Dados</a:t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5549558" y="5720948"/>
              <a:ext cx="1656078" cy="767919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Endereço da Memória</a:t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11" name="Google Shape;211;p7"/>
            <p:cNvCxnSpPr/>
            <p:nvPr/>
          </p:nvCxnSpPr>
          <p:spPr>
            <a:xfrm rot="10800000">
              <a:off x="7200552" y="6138655"/>
              <a:ext cx="483992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212" name="Google Shape;212;p7"/>
            <p:cNvCxnSpPr/>
            <p:nvPr/>
          </p:nvCxnSpPr>
          <p:spPr>
            <a:xfrm rot="10800000">
              <a:off x="3564407" y="5521702"/>
              <a:ext cx="6312" cy="32824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213" name="Google Shape;213;p7"/>
            <p:cNvCxnSpPr/>
            <p:nvPr/>
          </p:nvCxnSpPr>
          <p:spPr>
            <a:xfrm rot="10800000">
              <a:off x="2124247" y="5521702"/>
              <a:ext cx="0" cy="32824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214" name="Google Shape;214;p7"/>
            <p:cNvSpPr/>
            <p:nvPr/>
          </p:nvSpPr>
          <p:spPr>
            <a:xfrm>
              <a:off x="5543966" y="3314327"/>
              <a:ext cx="1656078" cy="787978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188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Contador de Programa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5543966" y="4241500"/>
              <a:ext cx="1656078" cy="787978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188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Instrução</a:t>
              </a:r>
              <a:endPara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" name="Google Shape;216;p7"/>
            <p:cNvSpPr txBox="1"/>
            <p:nvPr/>
          </p:nvSpPr>
          <p:spPr>
            <a:xfrm>
              <a:off x="2044123" y="552170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Operando 1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17" name="Google Shape;217;p7"/>
            <p:cNvCxnSpPr/>
            <p:nvPr/>
          </p:nvCxnSpPr>
          <p:spPr>
            <a:xfrm rot="10800000">
              <a:off x="358650" y="7353449"/>
              <a:ext cx="518049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218" name="Google Shape;218;p7"/>
            <p:cNvCxnSpPr/>
            <p:nvPr/>
          </p:nvCxnSpPr>
          <p:spPr>
            <a:xfrm rot="10800000">
              <a:off x="2833172" y="7064375"/>
              <a:ext cx="0" cy="28907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219" name="Google Shape;219;p7"/>
            <p:cNvCxnSpPr/>
            <p:nvPr/>
          </p:nvCxnSpPr>
          <p:spPr>
            <a:xfrm>
              <a:off x="4981745" y="6189607"/>
              <a:ext cx="0" cy="116384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0" name="Google Shape;220;p7"/>
            <p:cNvCxnSpPr/>
            <p:nvPr/>
          </p:nvCxnSpPr>
          <p:spPr>
            <a:xfrm rot="5400000">
              <a:off x="3184556" y="5342932"/>
              <a:ext cx="1647455" cy="1303395"/>
            </a:xfrm>
            <a:prstGeom prst="bentConnector2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21" name="Google Shape;221;p7"/>
            <p:cNvSpPr txBox="1"/>
            <p:nvPr/>
          </p:nvSpPr>
          <p:spPr>
            <a:xfrm>
              <a:off x="3505817" y="655419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Operação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22" name="Google Shape;222;p7"/>
            <p:cNvCxnSpPr/>
            <p:nvPr/>
          </p:nvCxnSpPr>
          <p:spPr>
            <a:xfrm rot="10800000">
              <a:off x="4850794" y="3709512"/>
              <a:ext cx="6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223" name="Google Shape;223;p7"/>
            <p:cNvCxnSpPr/>
            <p:nvPr/>
          </p:nvCxnSpPr>
          <p:spPr>
            <a:xfrm>
              <a:off x="3805158" y="3440584"/>
              <a:ext cx="544325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224" name="Google Shape;224;p7"/>
            <p:cNvCxnSpPr/>
            <p:nvPr/>
          </p:nvCxnSpPr>
          <p:spPr>
            <a:xfrm>
              <a:off x="4850794" y="4619590"/>
              <a:ext cx="675276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</p:grpSp>
      <p:graphicFrame>
        <p:nvGraphicFramePr>
          <p:cNvPr id="225" name="Google Shape;225;p7"/>
          <p:cNvGraphicFramePr/>
          <p:nvPr/>
        </p:nvGraphicFramePr>
        <p:xfrm>
          <a:off x="7799747" y="39528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360050"/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MOV R0, #2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MOV R1, </a:t>
                      </a:r>
                      <a:r>
                        <a:rPr lang="pt-BR" sz="1400" u="none" cap="none" strike="noStrike">
                          <a:solidFill>
                            <a:srgbClr val="006663"/>
                          </a:solidFill>
                        </a:rPr>
                        <a:t>R0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ADD R2, R0, R1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MOV R3, #0x8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STR R2, [R3]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6" name="Google Shape;226;p7"/>
          <p:cNvGraphicFramePr/>
          <p:nvPr/>
        </p:nvGraphicFramePr>
        <p:xfrm>
          <a:off x="5680722" y="60022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7" name="Google Shape;227;p7"/>
          <p:cNvGraphicFramePr/>
          <p:nvPr/>
        </p:nvGraphicFramePr>
        <p:xfrm>
          <a:off x="5675130" y="36157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8" name="Google Shape;228;p7"/>
          <p:cNvGraphicFramePr/>
          <p:nvPr/>
        </p:nvGraphicFramePr>
        <p:xfrm>
          <a:off x="5675130" y="45429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9" name="Google Shape;229;p7"/>
          <p:cNvGraphicFramePr/>
          <p:nvPr/>
        </p:nvGraphicFramePr>
        <p:xfrm>
          <a:off x="2419458" y="66348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8641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0" name="Google Shape;230;p7"/>
          <p:cNvGraphicFramePr/>
          <p:nvPr/>
        </p:nvGraphicFramePr>
        <p:xfrm>
          <a:off x="5666804" y="69748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31" name="Google Shape;231;p7"/>
          <p:cNvSpPr txBox="1"/>
          <p:nvPr/>
        </p:nvSpPr>
        <p:spPr>
          <a:xfrm>
            <a:off x="-20220" y="1424826"/>
            <a:ext cx="469231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Formato da Instrução: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Operação Destino, Operando 1, Operando 2</a:t>
            </a:r>
            <a:endParaRPr/>
          </a:p>
        </p:txBody>
      </p:sp>
      <p:sp>
        <p:nvSpPr>
          <p:cNvPr id="232" name="Google Shape;232;p7"/>
          <p:cNvSpPr txBox="1"/>
          <p:nvPr/>
        </p:nvSpPr>
        <p:spPr>
          <a:xfrm>
            <a:off x="345012" y="560206"/>
            <a:ext cx="9506198" cy="983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0F243E"/>
                </a:solidFill>
                <a:latin typeface="Calibri"/>
                <a:ea typeface="Calibri"/>
                <a:cs typeface="Calibri"/>
                <a:sym typeface="Calibri"/>
              </a:rPr>
              <a:t>Arquitetura Simplificada “Load/Store” – </a:t>
            </a:r>
            <a:r>
              <a:rPr b="1" lang="pt-BR" sz="2400">
                <a:solidFill>
                  <a:srgbClr val="0F243E"/>
                </a:solidFill>
                <a:latin typeface="Calibri"/>
                <a:ea typeface="Calibri"/>
                <a:cs typeface="Calibri"/>
                <a:sym typeface="Calibri"/>
              </a:rPr>
              <a:t>ARM Cortex M0+</a:t>
            </a:r>
            <a:endParaRPr b="1" sz="3200">
              <a:solidFill>
                <a:srgbClr val="0F24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3" name="Google Shape;233;p7"/>
          <p:cNvGraphicFramePr/>
          <p:nvPr/>
        </p:nvGraphicFramePr>
        <p:xfrm>
          <a:off x="1945155" y="3695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502875"/>
                <a:gridCol w="1273175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34" name="Google Shape;234;p7"/>
          <p:cNvSpPr/>
          <p:nvPr/>
        </p:nvSpPr>
        <p:spPr>
          <a:xfrm>
            <a:off x="4888762" y="1432268"/>
            <a:ext cx="559156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Instrução: MOVE – atribui o valor de Op2 ao registrador Rn</a:t>
            </a:r>
            <a:endParaRPr sz="2000">
              <a:solidFill>
                <a:srgbClr val="0066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MOV Rn, Op2</a:t>
            </a:r>
            <a:endParaRPr sz="2400">
              <a:solidFill>
                <a:srgbClr val="0066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5" name="Google Shape;235;p7"/>
          <p:cNvCxnSpPr/>
          <p:nvPr/>
        </p:nvCxnSpPr>
        <p:spPr>
          <a:xfrm flipH="1" rot="10800000">
            <a:off x="5896576" y="2464020"/>
            <a:ext cx="170279" cy="399354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6" name="Google Shape;236;p7"/>
          <p:cNvSpPr txBox="1"/>
          <p:nvPr/>
        </p:nvSpPr>
        <p:spPr>
          <a:xfrm>
            <a:off x="5367183" y="2797426"/>
            <a:ext cx="86754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OpCode</a:t>
            </a:r>
            <a:endParaRPr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7" name="Google Shape;237;p7"/>
          <p:cNvCxnSpPr/>
          <p:nvPr/>
        </p:nvCxnSpPr>
        <p:spPr>
          <a:xfrm rot="10800000">
            <a:off x="6812445" y="2464020"/>
            <a:ext cx="0" cy="330697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8" name="Google Shape;238;p7"/>
          <p:cNvSpPr txBox="1"/>
          <p:nvPr/>
        </p:nvSpPr>
        <p:spPr>
          <a:xfrm>
            <a:off x="6497454" y="2797426"/>
            <a:ext cx="82426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Destino</a:t>
            </a:r>
            <a:endParaRPr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9" name="Google Shape;239;p7"/>
          <p:cNvCxnSpPr/>
          <p:nvPr/>
        </p:nvCxnSpPr>
        <p:spPr>
          <a:xfrm rot="10800000">
            <a:off x="7442426" y="2478505"/>
            <a:ext cx="127378" cy="384869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0" name="Google Shape;240;p7"/>
          <p:cNvSpPr txBox="1"/>
          <p:nvPr/>
        </p:nvSpPr>
        <p:spPr>
          <a:xfrm>
            <a:off x="7440821" y="2797425"/>
            <a:ext cx="120298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Valor</a:t>
            </a:r>
            <a:endParaRPr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1" name="Google Shape;241;p7"/>
          <p:cNvCxnSpPr/>
          <p:nvPr/>
        </p:nvCxnSpPr>
        <p:spPr>
          <a:xfrm>
            <a:off x="2614651" y="2098383"/>
            <a:ext cx="0" cy="199677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2" name="Google Shape;242;p7"/>
          <p:cNvSpPr txBox="1"/>
          <p:nvPr/>
        </p:nvSpPr>
        <p:spPr>
          <a:xfrm>
            <a:off x="1609109" y="2258920"/>
            <a:ext cx="201108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Dependendo da operação não é usado</a:t>
            </a:r>
            <a:endParaRPr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7"/>
          <p:cNvSpPr txBox="1"/>
          <p:nvPr/>
        </p:nvSpPr>
        <p:spPr>
          <a:xfrm>
            <a:off x="8575345" y="2092706"/>
            <a:ext cx="126856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Constante de 8 bits</a:t>
            </a:r>
            <a:endParaRPr b="1"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4" name="Google Shape;244;p7"/>
          <p:cNvCxnSpPr/>
          <p:nvPr/>
        </p:nvCxnSpPr>
        <p:spPr>
          <a:xfrm flipH="1">
            <a:off x="9056646" y="2715962"/>
            <a:ext cx="194640" cy="1319929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5" name="Google Shape;245;p7"/>
          <p:cNvSpPr/>
          <p:nvPr/>
        </p:nvSpPr>
        <p:spPr>
          <a:xfrm>
            <a:off x="9335251" y="3952839"/>
            <a:ext cx="489909" cy="1768109"/>
          </a:xfrm>
          <a:prstGeom prst="rightBrace">
            <a:avLst>
              <a:gd fmla="val 39175" name="adj1"/>
              <a:gd fmla="val 5000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7"/>
          <p:cNvSpPr txBox="1"/>
          <p:nvPr>
            <p:ph idx="1" type="body"/>
          </p:nvPr>
        </p:nvSpPr>
        <p:spPr>
          <a:xfrm rot="-5400000">
            <a:off x="9561709" y="4453366"/>
            <a:ext cx="788803" cy="5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pt-BR" sz="2400">
                <a:solidFill>
                  <a:srgbClr val="FF0000"/>
                </a:solidFill>
              </a:rPr>
              <a:t>2+2</a:t>
            </a:r>
            <a:endParaRPr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8"/>
          <p:cNvGrpSpPr/>
          <p:nvPr/>
        </p:nvGrpSpPr>
        <p:grpSpPr>
          <a:xfrm>
            <a:off x="358650" y="2903232"/>
            <a:ext cx="9301100" cy="4521352"/>
            <a:chOff x="358650" y="2903232"/>
            <a:chExt cx="9301100" cy="4521352"/>
          </a:xfrm>
        </p:grpSpPr>
        <p:sp>
          <p:nvSpPr>
            <p:cNvPr id="252" name="Google Shape;252;p8"/>
            <p:cNvSpPr/>
            <p:nvPr/>
          </p:nvSpPr>
          <p:spPr>
            <a:xfrm>
              <a:off x="7715781" y="3310355"/>
              <a:ext cx="1943969" cy="4114229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Memória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(Grande e Lenta)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3" name="Google Shape;253;p8"/>
            <p:cNvSpPr/>
            <p:nvPr/>
          </p:nvSpPr>
          <p:spPr>
            <a:xfrm>
              <a:off x="1861189" y="2903232"/>
              <a:ext cx="1943969" cy="2618470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Propósito Geral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(Pequena e Rápida)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4" name="Google Shape;254;p8"/>
            <p:cNvSpPr/>
            <p:nvPr/>
          </p:nvSpPr>
          <p:spPr>
            <a:xfrm rot="-5400000">
              <a:off x="3676612" y="3983226"/>
              <a:ext cx="1847054" cy="501311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8C3A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Controle</a:t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55" name="Google Shape;255;p8"/>
            <p:cNvCxnSpPr/>
            <p:nvPr/>
          </p:nvCxnSpPr>
          <p:spPr>
            <a:xfrm>
              <a:off x="7200552" y="4619590"/>
              <a:ext cx="4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256" name="Google Shape;256;p8"/>
            <p:cNvCxnSpPr/>
            <p:nvPr/>
          </p:nvCxnSpPr>
          <p:spPr>
            <a:xfrm rot="10800000">
              <a:off x="7217017" y="3709512"/>
              <a:ext cx="4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257" name="Google Shape;257;p8"/>
            <p:cNvSpPr txBox="1"/>
            <p:nvPr/>
          </p:nvSpPr>
          <p:spPr>
            <a:xfrm>
              <a:off x="3520019" y="552170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Operando 2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58" name="Google Shape;258;p8"/>
            <p:cNvCxnSpPr/>
            <p:nvPr/>
          </p:nvCxnSpPr>
          <p:spPr>
            <a:xfrm rot="10800000">
              <a:off x="4981745" y="6170453"/>
              <a:ext cx="557399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259" name="Google Shape;259;p8"/>
            <p:cNvCxnSpPr/>
            <p:nvPr/>
          </p:nvCxnSpPr>
          <p:spPr>
            <a:xfrm>
              <a:off x="358650" y="3419797"/>
              <a:ext cx="0" cy="393365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0" name="Google Shape;260;p8"/>
            <p:cNvCxnSpPr/>
            <p:nvPr/>
          </p:nvCxnSpPr>
          <p:spPr>
            <a:xfrm rot="10800000">
              <a:off x="358650" y="3440584"/>
              <a:ext cx="151091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261" name="Google Shape;261;p8"/>
            <p:cNvCxnSpPr/>
            <p:nvPr/>
          </p:nvCxnSpPr>
          <p:spPr>
            <a:xfrm>
              <a:off x="7200044" y="7092205"/>
              <a:ext cx="515737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62" name="Google Shape;262;p8"/>
            <p:cNvSpPr/>
            <p:nvPr/>
          </p:nvSpPr>
          <p:spPr>
            <a:xfrm>
              <a:off x="1869564" y="5849949"/>
              <a:ext cx="1943969" cy="1200835"/>
            </a:xfrm>
            <a:custGeom>
              <a:rect b="b" l="l" r="r" t="t"/>
              <a:pathLst>
                <a:path extrusionOk="0" h="1193074" w="2295391">
                  <a:moveTo>
                    <a:pt x="0" y="0"/>
                  </a:moveTo>
                  <a:lnTo>
                    <a:pt x="522514" y="0"/>
                  </a:lnTo>
                  <a:lnTo>
                    <a:pt x="664039" y="386189"/>
                  </a:lnTo>
                  <a:lnTo>
                    <a:pt x="1607805" y="386189"/>
                  </a:lnTo>
                  <a:lnTo>
                    <a:pt x="1750423" y="10073"/>
                  </a:lnTo>
                  <a:lnTo>
                    <a:pt x="2295391" y="6400"/>
                  </a:lnTo>
                  <a:lnTo>
                    <a:pt x="1663337" y="1193074"/>
                  </a:lnTo>
                  <a:lnTo>
                    <a:pt x="635725" y="11930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cap="flat" cmpd="sng" w="25400">
              <a:solidFill>
                <a:srgbClr val="B46D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</a:t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3" name="Google Shape;263;p8"/>
            <p:cNvSpPr/>
            <p:nvPr/>
          </p:nvSpPr>
          <p:spPr>
            <a:xfrm>
              <a:off x="5549558" y="6648121"/>
              <a:ext cx="1656078" cy="776463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Dados</a:t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5549558" y="5720948"/>
              <a:ext cx="1656078" cy="767919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Endereço da Memória</a:t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65" name="Google Shape;265;p8"/>
            <p:cNvCxnSpPr/>
            <p:nvPr/>
          </p:nvCxnSpPr>
          <p:spPr>
            <a:xfrm rot="10800000">
              <a:off x="7200552" y="6138655"/>
              <a:ext cx="483992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266" name="Google Shape;266;p8"/>
            <p:cNvCxnSpPr/>
            <p:nvPr/>
          </p:nvCxnSpPr>
          <p:spPr>
            <a:xfrm rot="10800000">
              <a:off x="3564407" y="5521702"/>
              <a:ext cx="6312" cy="32824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267" name="Google Shape;267;p8"/>
            <p:cNvCxnSpPr/>
            <p:nvPr/>
          </p:nvCxnSpPr>
          <p:spPr>
            <a:xfrm rot="10800000">
              <a:off x="2124247" y="5521702"/>
              <a:ext cx="0" cy="32824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268" name="Google Shape;268;p8"/>
            <p:cNvSpPr/>
            <p:nvPr/>
          </p:nvSpPr>
          <p:spPr>
            <a:xfrm>
              <a:off x="5543966" y="3314327"/>
              <a:ext cx="1656078" cy="787978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188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Contador de Programa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5543966" y="4241500"/>
              <a:ext cx="1656078" cy="787978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188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Instrução</a:t>
              </a:r>
              <a:endPara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0" name="Google Shape;270;p8"/>
            <p:cNvSpPr txBox="1"/>
            <p:nvPr/>
          </p:nvSpPr>
          <p:spPr>
            <a:xfrm>
              <a:off x="2044123" y="552170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Operando 1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71" name="Google Shape;271;p8"/>
            <p:cNvCxnSpPr/>
            <p:nvPr/>
          </p:nvCxnSpPr>
          <p:spPr>
            <a:xfrm rot="10800000">
              <a:off x="358650" y="7353449"/>
              <a:ext cx="518049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272" name="Google Shape;272;p8"/>
            <p:cNvCxnSpPr/>
            <p:nvPr/>
          </p:nvCxnSpPr>
          <p:spPr>
            <a:xfrm rot="10800000">
              <a:off x="2833172" y="7064375"/>
              <a:ext cx="0" cy="28907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273" name="Google Shape;273;p8"/>
            <p:cNvCxnSpPr/>
            <p:nvPr/>
          </p:nvCxnSpPr>
          <p:spPr>
            <a:xfrm>
              <a:off x="4981745" y="6189607"/>
              <a:ext cx="0" cy="116384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4" name="Google Shape;274;p8"/>
            <p:cNvCxnSpPr/>
            <p:nvPr/>
          </p:nvCxnSpPr>
          <p:spPr>
            <a:xfrm rot="5400000">
              <a:off x="3184556" y="5342932"/>
              <a:ext cx="1647455" cy="1303395"/>
            </a:xfrm>
            <a:prstGeom prst="bentConnector2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75" name="Google Shape;275;p8"/>
            <p:cNvSpPr txBox="1"/>
            <p:nvPr/>
          </p:nvSpPr>
          <p:spPr>
            <a:xfrm>
              <a:off x="3505817" y="655419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Operação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76" name="Google Shape;276;p8"/>
            <p:cNvCxnSpPr/>
            <p:nvPr/>
          </p:nvCxnSpPr>
          <p:spPr>
            <a:xfrm rot="10800000">
              <a:off x="4850794" y="3709512"/>
              <a:ext cx="6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277" name="Google Shape;277;p8"/>
            <p:cNvCxnSpPr/>
            <p:nvPr/>
          </p:nvCxnSpPr>
          <p:spPr>
            <a:xfrm>
              <a:off x="3805158" y="3440584"/>
              <a:ext cx="544325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278" name="Google Shape;278;p8"/>
            <p:cNvCxnSpPr/>
            <p:nvPr/>
          </p:nvCxnSpPr>
          <p:spPr>
            <a:xfrm>
              <a:off x="4850794" y="4619590"/>
              <a:ext cx="675276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279" name="Google Shape;279;p8"/>
            <p:cNvSpPr txBox="1"/>
            <p:nvPr/>
          </p:nvSpPr>
          <p:spPr>
            <a:xfrm>
              <a:off x="2827339" y="7062859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Destino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aphicFrame>
        <p:nvGraphicFramePr>
          <p:cNvPr id="280" name="Google Shape;280;p8"/>
          <p:cNvGraphicFramePr/>
          <p:nvPr/>
        </p:nvGraphicFramePr>
        <p:xfrm>
          <a:off x="7799747" y="39528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360050"/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MOV R0, #2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MOV R1, </a:t>
                      </a: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R0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ADD R2, R0, R1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MOV R3, #0x8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STR R2, [R3]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1" name="Google Shape;281;p8"/>
          <p:cNvGraphicFramePr/>
          <p:nvPr/>
        </p:nvGraphicFramePr>
        <p:xfrm>
          <a:off x="5680722" y="60022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2" name="Google Shape;282;p8"/>
          <p:cNvGraphicFramePr/>
          <p:nvPr/>
        </p:nvGraphicFramePr>
        <p:xfrm>
          <a:off x="5675130" y="36157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3" name="Google Shape;283;p8"/>
          <p:cNvGraphicFramePr/>
          <p:nvPr/>
        </p:nvGraphicFramePr>
        <p:xfrm>
          <a:off x="5675130" y="45429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4" name="Google Shape;284;p8"/>
          <p:cNvGraphicFramePr/>
          <p:nvPr/>
        </p:nvGraphicFramePr>
        <p:xfrm>
          <a:off x="2419458" y="66348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8641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5" name="Google Shape;285;p8"/>
          <p:cNvGraphicFramePr/>
          <p:nvPr/>
        </p:nvGraphicFramePr>
        <p:xfrm>
          <a:off x="5666804" y="69748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86" name="Google Shape;286;p8"/>
          <p:cNvSpPr txBox="1"/>
          <p:nvPr/>
        </p:nvSpPr>
        <p:spPr>
          <a:xfrm>
            <a:off x="45998" y="1221482"/>
            <a:ext cx="9805212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006663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Depois de inicializar, Contador de Programa (PC) aponta para a próxima instrução a ser executada.</a:t>
            </a:r>
            <a:endParaRPr/>
          </a:p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006663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instrução é copiada para o Registrador de Instrução (IR) – “FETCH”.</a:t>
            </a:r>
            <a:endParaRPr/>
          </a:p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006663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Controle decodifica a instrução e carrega variáveis – “DECODE”.</a:t>
            </a:r>
            <a:endParaRPr/>
          </a:p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006663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operação é executada pelo ALU – “EXECUTE”.</a:t>
            </a:r>
            <a:endParaRPr/>
          </a:p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006663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resultado é armazenado no registrador  R0 – “STORE”.</a:t>
            </a:r>
            <a:endParaRPr/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0066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8"/>
          <p:cNvSpPr txBox="1"/>
          <p:nvPr/>
        </p:nvSpPr>
        <p:spPr>
          <a:xfrm>
            <a:off x="345012" y="560206"/>
            <a:ext cx="9506198" cy="983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0F243E"/>
                </a:solidFill>
                <a:latin typeface="Calibri"/>
                <a:ea typeface="Calibri"/>
                <a:cs typeface="Calibri"/>
                <a:sym typeface="Calibri"/>
              </a:rPr>
              <a:t>Arquitetura Simplificada “Load/Store” – </a:t>
            </a:r>
            <a:r>
              <a:rPr b="1" lang="pt-BR" sz="2400">
                <a:solidFill>
                  <a:srgbClr val="0F243E"/>
                </a:solidFill>
                <a:latin typeface="Calibri"/>
                <a:ea typeface="Calibri"/>
                <a:cs typeface="Calibri"/>
                <a:sym typeface="Calibri"/>
              </a:rPr>
              <a:t>ARM Cortex M0+</a:t>
            </a:r>
            <a:endParaRPr b="1" sz="3200">
              <a:solidFill>
                <a:srgbClr val="0F24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8" name="Google Shape;288;p8"/>
          <p:cNvGraphicFramePr/>
          <p:nvPr/>
        </p:nvGraphicFramePr>
        <p:xfrm>
          <a:off x="1945155" y="3695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502875"/>
                <a:gridCol w="1273175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89" name="Google Shape;289;p8"/>
          <p:cNvSpPr/>
          <p:nvPr/>
        </p:nvSpPr>
        <p:spPr>
          <a:xfrm>
            <a:off x="3383065" y="5837874"/>
            <a:ext cx="3145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5822305" y="4559046"/>
            <a:ext cx="105291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 R0, #2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6242729" y="3645062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" name="Google Shape;292;p8"/>
          <p:cNvCxnSpPr/>
          <p:nvPr/>
        </p:nvCxnSpPr>
        <p:spPr>
          <a:xfrm flipH="1">
            <a:off x="6776906" y="4207436"/>
            <a:ext cx="1483200" cy="479400"/>
          </a:xfrm>
          <a:prstGeom prst="bentConnector3">
            <a:avLst>
              <a:gd fmla="val 50000" name="adj1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3" name="Google Shape;293;p8"/>
          <p:cNvCxnSpPr/>
          <p:nvPr/>
        </p:nvCxnSpPr>
        <p:spPr>
          <a:xfrm>
            <a:off x="7055561" y="3800138"/>
            <a:ext cx="804600" cy="280500"/>
          </a:xfrm>
          <a:prstGeom prst="bentConnector3">
            <a:avLst>
              <a:gd fmla="val 50000" name="adj1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4" name="Google Shape;294;p8"/>
          <p:cNvSpPr/>
          <p:nvPr/>
        </p:nvSpPr>
        <p:spPr>
          <a:xfrm>
            <a:off x="2553892" y="6664468"/>
            <a:ext cx="55758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8"/>
          <p:cNvCxnSpPr/>
          <p:nvPr/>
        </p:nvCxnSpPr>
        <p:spPr>
          <a:xfrm rot="5400000">
            <a:off x="2713631" y="4270598"/>
            <a:ext cx="2465400" cy="763800"/>
          </a:xfrm>
          <a:prstGeom prst="bentConnector3">
            <a:avLst>
              <a:gd fmla="val 547" name="adj1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" name="Google Shape;296;p8"/>
          <p:cNvCxnSpPr/>
          <p:nvPr/>
        </p:nvCxnSpPr>
        <p:spPr>
          <a:xfrm>
            <a:off x="4850794" y="4619590"/>
            <a:ext cx="675276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97" name="Google Shape;297;p8"/>
          <p:cNvCxnSpPr/>
          <p:nvPr/>
        </p:nvCxnSpPr>
        <p:spPr>
          <a:xfrm rot="5400000">
            <a:off x="3176331" y="5334852"/>
            <a:ext cx="1647600" cy="1319700"/>
          </a:xfrm>
          <a:prstGeom prst="bentConnector2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8" name="Google Shape;298;p8"/>
          <p:cNvCxnSpPr/>
          <p:nvPr/>
        </p:nvCxnSpPr>
        <p:spPr>
          <a:xfrm>
            <a:off x="361700" y="3925432"/>
            <a:ext cx="0" cy="3414426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" name="Google Shape;299;p8"/>
          <p:cNvCxnSpPr/>
          <p:nvPr/>
        </p:nvCxnSpPr>
        <p:spPr>
          <a:xfrm rot="10800000">
            <a:off x="345012" y="3925432"/>
            <a:ext cx="220888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00" name="Google Shape;300;p8"/>
          <p:cNvCxnSpPr/>
          <p:nvPr/>
        </p:nvCxnSpPr>
        <p:spPr>
          <a:xfrm flipH="1">
            <a:off x="330498" y="7358976"/>
            <a:ext cx="2468690" cy="6746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" name="Google Shape;301;p8"/>
          <p:cNvCxnSpPr/>
          <p:nvPr/>
        </p:nvCxnSpPr>
        <p:spPr>
          <a:xfrm>
            <a:off x="2827339" y="7050784"/>
            <a:ext cx="0" cy="341761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8"/>
          <p:cNvSpPr/>
          <p:nvPr/>
        </p:nvSpPr>
        <p:spPr>
          <a:xfrm>
            <a:off x="2491443" y="3720364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9"/>
          <p:cNvGrpSpPr/>
          <p:nvPr/>
        </p:nvGrpSpPr>
        <p:grpSpPr>
          <a:xfrm>
            <a:off x="358650" y="2903232"/>
            <a:ext cx="9301100" cy="4521352"/>
            <a:chOff x="358650" y="2903232"/>
            <a:chExt cx="9301100" cy="4521352"/>
          </a:xfrm>
        </p:grpSpPr>
        <p:sp>
          <p:nvSpPr>
            <p:cNvPr id="308" name="Google Shape;308;p9"/>
            <p:cNvSpPr/>
            <p:nvPr/>
          </p:nvSpPr>
          <p:spPr>
            <a:xfrm>
              <a:off x="7715781" y="3310355"/>
              <a:ext cx="1943969" cy="4114229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Memória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(Grande e Lenta)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1861189" y="2903232"/>
              <a:ext cx="1943969" cy="2618470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Propósito Geral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(Pequena e Rápida)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0" name="Google Shape;310;p9"/>
            <p:cNvSpPr/>
            <p:nvPr/>
          </p:nvSpPr>
          <p:spPr>
            <a:xfrm rot="-5400000">
              <a:off x="3676612" y="3983226"/>
              <a:ext cx="1847054" cy="501311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8C3A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Controle</a:t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11" name="Google Shape;311;p9"/>
            <p:cNvCxnSpPr/>
            <p:nvPr/>
          </p:nvCxnSpPr>
          <p:spPr>
            <a:xfrm>
              <a:off x="7200552" y="4619590"/>
              <a:ext cx="4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312" name="Google Shape;312;p9"/>
            <p:cNvCxnSpPr/>
            <p:nvPr/>
          </p:nvCxnSpPr>
          <p:spPr>
            <a:xfrm rot="10800000">
              <a:off x="7217017" y="3709512"/>
              <a:ext cx="4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313" name="Google Shape;313;p9"/>
            <p:cNvSpPr txBox="1"/>
            <p:nvPr/>
          </p:nvSpPr>
          <p:spPr>
            <a:xfrm>
              <a:off x="3520019" y="552170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Operando 2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14" name="Google Shape;314;p9"/>
            <p:cNvCxnSpPr/>
            <p:nvPr/>
          </p:nvCxnSpPr>
          <p:spPr>
            <a:xfrm rot="10800000">
              <a:off x="4981745" y="6170453"/>
              <a:ext cx="557399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315" name="Google Shape;315;p9"/>
            <p:cNvCxnSpPr/>
            <p:nvPr/>
          </p:nvCxnSpPr>
          <p:spPr>
            <a:xfrm>
              <a:off x="358650" y="3419797"/>
              <a:ext cx="0" cy="393365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6" name="Google Shape;316;p9"/>
            <p:cNvCxnSpPr/>
            <p:nvPr/>
          </p:nvCxnSpPr>
          <p:spPr>
            <a:xfrm rot="10800000">
              <a:off x="358650" y="3440584"/>
              <a:ext cx="151091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317" name="Google Shape;317;p9"/>
            <p:cNvCxnSpPr/>
            <p:nvPr/>
          </p:nvCxnSpPr>
          <p:spPr>
            <a:xfrm>
              <a:off x="7200044" y="7092205"/>
              <a:ext cx="515737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18" name="Google Shape;318;p9"/>
            <p:cNvSpPr/>
            <p:nvPr/>
          </p:nvSpPr>
          <p:spPr>
            <a:xfrm>
              <a:off x="1869564" y="5849949"/>
              <a:ext cx="1943969" cy="1200835"/>
            </a:xfrm>
            <a:custGeom>
              <a:rect b="b" l="l" r="r" t="t"/>
              <a:pathLst>
                <a:path extrusionOk="0" h="1193074" w="2295391">
                  <a:moveTo>
                    <a:pt x="0" y="0"/>
                  </a:moveTo>
                  <a:lnTo>
                    <a:pt x="522514" y="0"/>
                  </a:lnTo>
                  <a:lnTo>
                    <a:pt x="664039" y="386189"/>
                  </a:lnTo>
                  <a:lnTo>
                    <a:pt x="1607805" y="386189"/>
                  </a:lnTo>
                  <a:lnTo>
                    <a:pt x="1750423" y="10073"/>
                  </a:lnTo>
                  <a:lnTo>
                    <a:pt x="2295391" y="6400"/>
                  </a:lnTo>
                  <a:lnTo>
                    <a:pt x="1663337" y="1193074"/>
                  </a:lnTo>
                  <a:lnTo>
                    <a:pt x="635725" y="11930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cap="flat" cmpd="sng" w="25400">
              <a:solidFill>
                <a:srgbClr val="B46D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</a:t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5549558" y="6648121"/>
              <a:ext cx="1656078" cy="776463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Dados</a:t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5549558" y="5720948"/>
              <a:ext cx="1656078" cy="767919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Endereço da Memória</a:t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21" name="Google Shape;321;p9"/>
            <p:cNvCxnSpPr/>
            <p:nvPr/>
          </p:nvCxnSpPr>
          <p:spPr>
            <a:xfrm rot="10800000">
              <a:off x="7200552" y="6138655"/>
              <a:ext cx="483992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322" name="Google Shape;322;p9"/>
            <p:cNvCxnSpPr/>
            <p:nvPr/>
          </p:nvCxnSpPr>
          <p:spPr>
            <a:xfrm rot="10800000">
              <a:off x="3564407" y="5521702"/>
              <a:ext cx="6312" cy="32824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323" name="Google Shape;323;p9"/>
            <p:cNvCxnSpPr/>
            <p:nvPr/>
          </p:nvCxnSpPr>
          <p:spPr>
            <a:xfrm rot="10800000">
              <a:off x="2124247" y="5521702"/>
              <a:ext cx="0" cy="32824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324" name="Google Shape;324;p9"/>
            <p:cNvSpPr/>
            <p:nvPr/>
          </p:nvSpPr>
          <p:spPr>
            <a:xfrm>
              <a:off x="5543966" y="3314327"/>
              <a:ext cx="1656078" cy="787978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188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Contador de Programa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5" name="Google Shape;325;p9"/>
            <p:cNvSpPr/>
            <p:nvPr/>
          </p:nvSpPr>
          <p:spPr>
            <a:xfrm>
              <a:off x="5543966" y="4241500"/>
              <a:ext cx="1656078" cy="787978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188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Instrução</a:t>
              </a:r>
              <a:endPara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6" name="Google Shape;326;p9"/>
            <p:cNvSpPr txBox="1"/>
            <p:nvPr/>
          </p:nvSpPr>
          <p:spPr>
            <a:xfrm>
              <a:off x="2044123" y="552170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Operando 1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27" name="Google Shape;327;p9"/>
            <p:cNvCxnSpPr/>
            <p:nvPr/>
          </p:nvCxnSpPr>
          <p:spPr>
            <a:xfrm rot="10800000">
              <a:off x="358650" y="7353449"/>
              <a:ext cx="518049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328" name="Google Shape;328;p9"/>
            <p:cNvCxnSpPr/>
            <p:nvPr/>
          </p:nvCxnSpPr>
          <p:spPr>
            <a:xfrm rot="10800000">
              <a:off x="2833172" y="7064375"/>
              <a:ext cx="0" cy="28907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329" name="Google Shape;329;p9"/>
            <p:cNvCxnSpPr/>
            <p:nvPr/>
          </p:nvCxnSpPr>
          <p:spPr>
            <a:xfrm>
              <a:off x="4981745" y="6189607"/>
              <a:ext cx="0" cy="116384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0" name="Google Shape;330;p9"/>
            <p:cNvCxnSpPr/>
            <p:nvPr/>
          </p:nvCxnSpPr>
          <p:spPr>
            <a:xfrm rot="5400000">
              <a:off x="3184556" y="5342932"/>
              <a:ext cx="1647455" cy="1303395"/>
            </a:xfrm>
            <a:prstGeom prst="bentConnector2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31" name="Google Shape;331;p9"/>
            <p:cNvSpPr txBox="1"/>
            <p:nvPr/>
          </p:nvSpPr>
          <p:spPr>
            <a:xfrm>
              <a:off x="3505817" y="655419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Operação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32" name="Google Shape;332;p9"/>
            <p:cNvCxnSpPr/>
            <p:nvPr/>
          </p:nvCxnSpPr>
          <p:spPr>
            <a:xfrm rot="10800000">
              <a:off x="4850794" y="3709512"/>
              <a:ext cx="6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333" name="Google Shape;333;p9"/>
            <p:cNvCxnSpPr/>
            <p:nvPr/>
          </p:nvCxnSpPr>
          <p:spPr>
            <a:xfrm>
              <a:off x="3805158" y="3440584"/>
              <a:ext cx="544325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334" name="Google Shape;334;p9"/>
            <p:cNvCxnSpPr/>
            <p:nvPr/>
          </p:nvCxnSpPr>
          <p:spPr>
            <a:xfrm>
              <a:off x="4850794" y="4619590"/>
              <a:ext cx="675276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335" name="Google Shape;335;p9"/>
            <p:cNvSpPr txBox="1"/>
            <p:nvPr/>
          </p:nvSpPr>
          <p:spPr>
            <a:xfrm>
              <a:off x="2827339" y="7062859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Destino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aphicFrame>
        <p:nvGraphicFramePr>
          <p:cNvPr id="336" name="Google Shape;336;p9"/>
          <p:cNvGraphicFramePr/>
          <p:nvPr/>
        </p:nvGraphicFramePr>
        <p:xfrm>
          <a:off x="7799747" y="39528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360050"/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MOV R0, #2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MOV R1, </a:t>
                      </a: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R0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ADD R2, R0, R1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MOV R3, #0x8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STR R2, [R3]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7" name="Google Shape;337;p9"/>
          <p:cNvGraphicFramePr/>
          <p:nvPr/>
        </p:nvGraphicFramePr>
        <p:xfrm>
          <a:off x="5680722" y="60022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8" name="Google Shape;338;p9"/>
          <p:cNvGraphicFramePr/>
          <p:nvPr/>
        </p:nvGraphicFramePr>
        <p:xfrm>
          <a:off x="5675130" y="36157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9" name="Google Shape;339;p9"/>
          <p:cNvGraphicFramePr/>
          <p:nvPr/>
        </p:nvGraphicFramePr>
        <p:xfrm>
          <a:off x="5675130" y="45429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0" name="Google Shape;340;p9"/>
          <p:cNvGraphicFramePr/>
          <p:nvPr/>
        </p:nvGraphicFramePr>
        <p:xfrm>
          <a:off x="2419458" y="66348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8641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1" name="Google Shape;341;p9"/>
          <p:cNvGraphicFramePr/>
          <p:nvPr/>
        </p:nvGraphicFramePr>
        <p:xfrm>
          <a:off x="5666804" y="69748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42" name="Google Shape;342;p9"/>
          <p:cNvSpPr txBox="1"/>
          <p:nvPr/>
        </p:nvSpPr>
        <p:spPr>
          <a:xfrm>
            <a:off x="45998" y="1221482"/>
            <a:ext cx="9805212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006663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 fim do ciclo o PC é incrementado, apontando para a próxima instrução.</a:t>
            </a:r>
            <a:endParaRPr/>
          </a:p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006663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instrução é copiada para o Registrador de Instrução (IR) – “FETCH”.</a:t>
            </a:r>
            <a:endParaRPr/>
          </a:p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006663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Controle decodifica a instrução e carrega variáveis – “DECODE”.</a:t>
            </a:r>
            <a:endParaRPr/>
          </a:p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006663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operação é executada pelo ALU – “EXECUTE”.</a:t>
            </a:r>
            <a:endParaRPr/>
          </a:p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006663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resultado é armazenado no registrador  R1– “STORE”.</a:t>
            </a:r>
            <a:endParaRPr/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0066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9"/>
          <p:cNvSpPr txBox="1"/>
          <p:nvPr/>
        </p:nvSpPr>
        <p:spPr>
          <a:xfrm>
            <a:off x="345012" y="560206"/>
            <a:ext cx="9506198" cy="983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0F243E"/>
                </a:solidFill>
                <a:latin typeface="Calibri"/>
                <a:ea typeface="Calibri"/>
                <a:cs typeface="Calibri"/>
                <a:sym typeface="Calibri"/>
              </a:rPr>
              <a:t>Arquitetura Simplificada “Load/Store” – </a:t>
            </a:r>
            <a:r>
              <a:rPr b="1" lang="pt-BR" sz="2400">
                <a:solidFill>
                  <a:srgbClr val="0F243E"/>
                </a:solidFill>
                <a:latin typeface="Calibri"/>
                <a:ea typeface="Calibri"/>
                <a:cs typeface="Calibri"/>
                <a:sym typeface="Calibri"/>
              </a:rPr>
              <a:t>ARM Cortex M0+</a:t>
            </a:r>
            <a:endParaRPr b="1" sz="3200">
              <a:solidFill>
                <a:srgbClr val="0F24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4" name="Google Shape;344;p9"/>
          <p:cNvGraphicFramePr/>
          <p:nvPr/>
        </p:nvGraphicFramePr>
        <p:xfrm>
          <a:off x="1945155" y="3695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502875"/>
                <a:gridCol w="1273175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45" name="Google Shape;345;p9"/>
          <p:cNvSpPr/>
          <p:nvPr/>
        </p:nvSpPr>
        <p:spPr>
          <a:xfrm>
            <a:off x="3383065" y="5837874"/>
            <a:ext cx="3145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5822305" y="4559046"/>
            <a:ext cx="105291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 R0, #2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6242729" y="3645062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8" name="Google Shape;348;p9"/>
          <p:cNvCxnSpPr/>
          <p:nvPr/>
        </p:nvCxnSpPr>
        <p:spPr>
          <a:xfrm>
            <a:off x="7055561" y="3800138"/>
            <a:ext cx="1182900" cy="758700"/>
          </a:xfrm>
          <a:prstGeom prst="bentConnector3">
            <a:avLst>
              <a:gd fmla="val 50000" name="adj1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9" name="Google Shape;349;p9"/>
          <p:cNvSpPr/>
          <p:nvPr/>
        </p:nvSpPr>
        <p:spPr>
          <a:xfrm>
            <a:off x="2553892" y="6664468"/>
            <a:ext cx="55758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Google Shape;350;p9"/>
          <p:cNvCxnSpPr/>
          <p:nvPr/>
        </p:nvCxnSpPr>
        <p:spPr>
          <a:xfrm flipH="1" rot="-5400000">
            <a:off x="2554042" y="4874902"/>
            <a:ext cx="2010900" cy="9600"/>
          </a:xfrm>
          <a:prstGeom prst="bentConnector3">
            <a:avLst>
              <a:gd fmla="val -1181" name="adj1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1" name="Google Shape;351;p9"/>
          <p:cNvCxnSpPr/>
          <p:nvPr/>
        </p:nvCxnSpPr>
        <p:spPr>
          <a:xfrm>
            <a:off x="4850794" y="4619590"/>
            <a:ext cx="675276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52" name="Google Shape;352;p9"/>
          <p:cNvCxnSpPr/>
          <p:nvPr/>
        </p:nvCxnSpPr>
        <p:spPr>
          <a:xfrm rot="5400000">
            <a:off x="3176331" y="5334852"/>
            <a:ext cx="1647600" cy="1319700"/>
          </a:xfrm>
          <a:prstGeom prst="bentConnector2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3" name="Google Shape;353;p9"/>
          <p:cNvCxnSpPr/>
          <p:nvPr/>
        </p:nvCxnSpPr>
        <p:spPr>
          <a:xfrm>
            <a:off x="361700" y="4241500"/>
            <a:ext cx="0" cy="3098358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p9"/>
          <p:cNvCxnSpPr/>
          <p:nvPr/>
        </p:nvCxnSpPr>
        <p:spPr>
          <a:xfrm rot="10800000">
            <a:off x="345012" y="4241500"/>
            <a:ext cx="220888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55" name="Google Shape;355;p9"/>
          <p:cNvCxnSpPr/>
          <p:nvPr/>
        </p:nvCxnSpPr>
        <p:spPr>
          <a:xfrm flipH="1">
            <a:off x="330498" y="7358976"/>
            <a:ext cx="2468690" cy="6746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9"/>
          <p:cNvCxnSpPr/>
          <p:nvPr/>
        </p:nvCxnSpPr>
        <p:spPr>
          <a:xfrm>
            <a:off x="2827339" y="7050784"/>
            <a:ext cx="0" cy="341761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" name="Google Shape;357;p9"/>
          <p:cNvSpPr/>
          <p:nvPr/>
        </p:nvSpPr>
        <p:spPr>
          <a:xfrm>
            <a:off x="2491443" y="3720364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5818298" y="4552180"/>
            <a:ext cx="1060931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 R1, R0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" name="Google Shape;359;p9"/>
          <p:cNvCxnSpPr/>
          <p:nvPr/>
        </p:nvCxnSpPr>
        <p:spPr>
          <a:xfrm flipH="1">
            <a:off x="6823201" y="4558912"/>
            <a:ext cx="1647600" cy="128100"/>
          </a:xfrm>
          <a:prstGeom prst="bentConnector3">
            <a:avLst>
              <a:gd fmla="val 50000" name="adj1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0" name="Google Shape;360;p9"/>
          <p:cNvCxnSpPr/>
          <p:nvPr/>
        </p:nvCxnSpPr>
        <p:spPr>
          <a:xfrm rot="10800000">
            <a:off x="4850794" y="3720364"/>
            <a:ext cx="698764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361" name="Google Shape;361;p9"/>
          <p:cNvSpPr/>
          <p:nvPr/>
        </p:nvSpPr>
        <p:spPr>
          <a:xfrm>
            <a:off x="6250700" y="3644168"/>
            <a:ext cx="276038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2489676" y="4066865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" name="Google Shape;363;p9"/>
          <p:cNvCxnSpPr/>
          <p:nvPr/>
        </p:nvCxnSpPr>
        <p:spPr>
          <a:xfrm>
            <a:off x="3805158" y="3440584"/>
            <a:ext cx="544325" cy="4047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Google Shape;368;p10"/>
          <p:cNvGrpSpPr/>
          <p:nvPr/>
        </p:nvGrpSpPr>
        <p:grpSpPr>
          <a:xfrm>
            <a:off x="358650" y="2903232"/>
            <a:ext cx="9301100" cy="4521352"/>
            <a:chOff x="358650" y="2903232"/>
            <a:chExt cx="9301100" cy="4521352"/>
          </a:xfrm>
        </p:grpSpPr>
        <p:sp>
          <p:nvSpPr>
            <p:cNvPr id="369" name="Google Shape;369;p10"/>
            <p:cNvSpPr/>
            <p:nvPr/>
          </p:nvSpPr>
          <p:spPr>
            <a:xfrm>
              <a:off x="7715781" y="3310355"/>
              <a:ext cx="1943969" cy="4114229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Memória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(Grande e Lenta)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0" name="Google Shape;370;p10"/>
            <p:cNvSpPr/>
            <p:nvPr/>
          </p:nvSpPr>
          <p:spPr>
            <a:xfrm>
              <a:off x="1861189" y="2903232"/>
              <a:ext cx="1943969" cy="2618470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Propósito Geral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(Pequena e Rápida)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1" name="Google Shape;371;p10"/>
            <p:cNvSpPr/>
            <p:nvPr/>
          </p:nvSpPr>
          <p:spPr>
            <a:xfrm rot="-5400000">
              <a:off x="3676612" y="3983226"/>
              <a:ext cx="1847054" cy="501311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8C3A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Controle</a:t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72" name="Google Shape;372;p10"/>
            <p:cNvCxnSpPr/>
            <p:nvPr/>
          </p:nvCxnSpPr>
          <p:spPr>
            <a:xfrm>
              <a:off x="7200552" y="4619590"/>
              <a:ext cx="4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373" name="Google Shape;373;p10"/>
            <p:cNvCxnSpPr/>
            <p:nvPr/>
          </p:nvCxnSpPr>
          <p:spPr>
            <a:xfrm rot="10800000">
              <a:off x="7217017" y="3709512"/>
              <a:ext cx="4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374" name="Google Shape;374;p10"/>
            <p:cNvSpPr txBox="1"/>
            <p:nvPr/>
          </p:nvSpPr>
          <p:spPr>
            <a:xfrm>
              <a:off x="3520019" y="552170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Operando 2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75" name="Google Shape;375;p10"/>
            <p:cNvCxnSpPr/>
            <p:nvPr/>
          </p:nvCxnSpPr>
          <p:spPr>
            <a:xfrm rot="10800000">
              <a:off x="4981745" y="6170453"/>
              <a:ext cx="557399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376" name="Google Shape;376;p10"/>
            <p:cNvCxnSpPr/>
            <p:nvPr/>
          </p:nvCxnSpPr>
          <p:spPr>
            <a:xfrm>
              <a:off x="358650" y="3419797"/>
              <a:ext cx="0" cy="393365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7" name="Google Shape;377;p10"/>
            <p:cNvCxnSpPr/>
            <p:nvPr/>
          </p:nvCxnSpPr>
          <p:spPr>
            <a:xfrm rot="10800000">
              <a:off x="358650" y="3440584"/>
              <a:ext cx="151091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378" name="Google Shape;378;p10"/>
            <p:cNvCxnSpPr/>
            <p:nvPr/>
          </p:nvCxnSpPr>
          <p:spPr>
            <a:xfrm>
              <a:off x="7200044" y="7092205"/>
              <a:ext cx="515737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79" name="Google Shape;379;p10"/>
            <p:cNvSpPr/>
            <p:nvPr/>
          </p:nvSpPr>
          <p:spPr>
            <a:xfrm>
              <a:off x="1869564" y="5849949"/>
              <a:ext cx="1943969" cy="1200835"/>
            </a:xfrm>
            <a:custGeom>
              <a:rect b="b" l="l" r="r" t="t"/>
              <a:pathLst>
                <a:path extrusionOk="0" h="1193074" w="2295391">
                  <a:moveTo>
                    <a:pt x="0" y="0"/>
                  </a:moveTo>
                  <a:lnTo>
                    <a:pt x="522514" y="0"/>
                  </a:lnTo>
                  <a:lnTo>
                    <a:pt x="664039" y="386189"/>
                  </a:lnTo>
                  <a:lnTo>
                    <a:pt x="1607805" y="386189"/>
                  </a:lnTo>
                  <a:lnTo>
                    <a:pt x="1750423" y="10073"/>
                  </a:lnTo>
                  <a:lnTo>
                    <a:pt x="2295391" y="6400"/>
                  </a:lnTo>
                  <a:lnTo>
                    <a:pt x="1663337" y="1193074"/>
                  </a:lnTo>
                  <a:lnTo>
                    <a:pt x="635725" y="11930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cap="flat" cmpd="sng" w="25400">
              <a:solidFill>
                <a:srgbClr val="B46D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</a:t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0" name="Google Shape;380;p10"/>
            <p:cNvSpPr/>
            <p:nvPr/>
          </p:nvSpPr>
          <p:spPr>
            <a:xfrm>
              <a:off x="5549558" y="6648121"/>
              <a:ext cx="1656078" cy="776463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Dados</a:t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1" name="Google Shape;381;p10"/>
            <p:cNvSpPr/>
            <p:nvPr/>
          </p:nvSpPr>
          <p:spPr>
            <a:xfrm>
              <a:off x="5549558" y="5720948"/>
              <a:ext cx="1656078" cy="767919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Endereço da Memória</a:t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82" name="Google Shape;382;p10"/>
            <p:cNvCxnSpPr/>
            <p:nvPr/>
          </p:nvCxnSpPr>
          <p:spPr>
            <a:xfrm rot="10800000">
              <a:off x="7200552" y="6138655"/>
              <a:ext cx="483992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383" name="Google Shape;383;p10"/>
            <p:cNvCxnSpPr/>
            <p:nvPr/>
          </p:nvCxnSpPr>
          <p:spPr>
            <a:xfrm rot="10800000">
              <a:off x="3564407" y="5521702"/>
              <a:ext cx="6312" cy="32824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384" name="Google Shape;384;p10"/>
            <p:cNvCxnSpPr/>
            <p:nvPr/>
          </p:nvCxnSpPr>
          <p:spPr>
            <a:xfrm rot="10800000">
              <a:off x="2124247" y="5521702"/>
              <a:ext cx="0" cy="32824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385" name="Google Shape;385;p10"/>
            <p:cNvSpPr/>
            <p:nvPr/>
          </p:nvSpPr>
          <p:spPr>
            <a:xfrm>
              <a:off x="5543966" y="3314327"/>
              <a:ext cx="1656078" cy="787978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188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Contador de Programa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6" name="Google Shape;386;p10"/>
            <p:cNvSpPr/>
            <p:nvPr/>
          </p:nvSpPr>
          <p:spPr>
            <a:xfrm>
              <a:off x="5543966" y="4241500"/>
              <a:ext cx="1656078" cy="787978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188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Instrução</a:t>
              </a:r>
              <a:endPara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7" name="Google Shape;387;p10"/>
            <p:cNvSpPr txBox="1"/>
            <p:nvPr/>
          </p:nvSpPr>
          <p:spPr>
            <a:xfrm>
              <a:off x="2044123" y="552170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Operando 1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88" name="Google Shape;388;p10"/>
            <p:cNvCxnSpPr/>
            <p:nvPr/>
          </p:nvCxnSpPr>
          <p:spPr>
            <a:xfrm rot="10800000">
              <a:off x="358650" y="7353449"/>
              <a:ext cx="518049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389" name="Google Shape;389;p10"/>
            <p:cNvCxnSpPr/>
            <p:nvPr/>
          </p:nvCxnSpPr>
          <p:spPr>
            <a:xfrm rot="10800000">
              <a:off x="2833172" y="7064375"/>
              <a:ext cx="0" cy="28907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390" name="Google Shape;390;p10"/>
            <p:cNvCxnSpPr/>
            <p:nvPr/>
          </p:nvCxnSpPr>
          <p:spPr>
            <a:xfrm>
              <a:off x="4981745" y="6189607"/>
              <a:ext cx="0" cy="116384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1" name="Google Shape;391;p10"/>
            <p:cNvCxnSpPr/>
            <p:nvPr/>
          </p:nvCxnSpPr>
          <p:spPr>
            <a:xfrm rot="5400000">
              <a:off x="3184556" y="5342932"/>
              <a:ext cx="1647455" cy="1303395"/>
            </a:xfrm>
            <a:prstGeom prst="bentConnector2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92" name="Google Shape;392;p10"/>
            <p:cNvSpPr txBox="1"/>
            <p:nvPr/>
          </p:nvSpPr>
          <p:spPr>
            <a:xfrm>
              <a:off x="3505817" y="655419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Operação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93" name="Google Shape;393;p10"/>
            <p:cNvCxnSpPr/>
            <p:nvPr/>
          </p:nvCxnSpPr>
          <p:spPr>
            <a:xfrm rot="10800000">
              <a:off x="4850794" y="3709512"/>
              <a:ext cx="6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394" name="Google Shape;394;p10"/>
            <p:cNvCxnSpPr/>
            <p:nvPr/>
          </p:nvCxnSpPr>
          <p:spPr>
            <a:xfrm>
              <a:off x="3805158" y="3440584"/>
              <a:ext cx="544325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395" name="Google Shape;395;p10"/>
            <p:cNvCxnSpPr/>
            <p:nvPr/>
          </p:nvCxnSpPr>
          <p:spPr>
            <a:xfrm>
              <a:off x="4850794" y="4619590"/>
              <a:ext cx="675276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396" name="Google Shape;396;p10"/>
            <p:cNvSpPr txBox="1"/>
            <p:nvPr/>
          </p:nvSpPr>
          <p:spPr>
            <a:xfrm>
              <a:off x="2827339" y="7062859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Destino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aphicFrame>
        <p:nvGraphicFramePr>
          <p:cNvPr id="397" name="Google Shape;397;p10"/>
          <p:cNvGraphicFramePr/>
          <p:nvPr/>
        </p:nvGraphicFramePr>
        <p:xfrm>
          <a:off x="7799747" y="39528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360050"/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MOV R0, #2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MOV R1, </a:t>
                      </a: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R0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ADD R2, R0, R1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MOV R3, #0x8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STR R2, [R3]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8" name="Google Shape;398;p10"/>
          <p:cNvGraphicFramePr/>
          <p:nvPr/>
        </p:nvGraphicFramePr>
        <p:xfrm>
          <a:off x="5680722" y="60022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9" name="Google Shape;399;p10"/>
          <p:cNvGraphicFramePr/>
          <p:nvPr/>
        </p:nvGraphicFramePr>
        <p:xfrm>
          <a:off x="5675130" y="36157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0" name="Google Shape;400;p10"/>
          <p:cNvGraphicFramePr/>
          <p:nvPr/>
        </p:nvGraphicFramePr>
        <p:xfrm>
          <a:off x="5675130" y="45429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1" name="Google Shape;401;p10"/>
          <p:cNvGraphicFramePr/>
          <p:nvPr/>
        </p:nvGraphicFramePr>
        <p:xfrm>
          <a:off x="2419458" y="66348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8641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2" name="Google Shape;402;p10"/>
          <p:cNvGraphicFramePr/>
          <p:nvPr/>
        </p:nvGraphicFramePr>
        <p:xfrm>
          <a:off x="5666804" y="69748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03" name="Google Shape;403;p10"/>
          <p:cNvSpPr txBox="1"/>
          <p:nvPr/>
        </p:nvSpPr>
        <p:spPr>
          <a:xfrm>
            <a:off x="45998" y="1221482"/>
            <a:ext cx="9805212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006663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 fim do ciclo o PC é incrementado, apontando para a próxima instrução.</a:t>
            </a:r>
            <a:endParaRPr/>
          </a:p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006663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instrução é copiada para o Registrador de Instrução (IR) – “FETCH”.</a:t>
            </a:r>
            <a:endParaRPr/>
          </a:p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006663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Controle decodifica a instrução e carrega variáveis – “DECODE”.</a:t>
            </a:r>
            <a:endParaRPr/>
          </a:p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006663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operação é executada pelo ALU – “EXECUTE”.</a:t>
            </a:r>
            <a:endParaRPr/>
          </a:p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006663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resultado é armazenado no registrador  R2– “STORE”.</a:t>
            </a:r>
            <a:endParaRPr/>
          </a:p>
        </p:txBody>
      </p:sp>
      <p:sp>
        <p:nvSpPr>
          <p:cNvPr id="404" name="Google Shape;404;p10"/>
          <p:cNvSpPr txBox="1"/>
          <p:nvPr/>
        </p:nvSpPr>
        <p:spPr>
          <a:xfrm>
            <a:off x="345012" y="560206"/>
            <a:ext cx="9506198" cy="983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0F243E"/>
                </a:solidFill>
                <a:latin typeface="Calibri"/>
                <a:ea typeface="Calibri"/>
                <a:cs typeface="Calibri"/>
                <a:sym typeface="Calibri"/>
              </a:rPr>
              <a:t>Arquitetura Simplificada “Load/Store” – </a:t>
            </a:r>
            <a:r>
              <a:rPr b="1" lang="pt-BR" sz="2400">
                <a:solidFill>
                  <a:srgbClr val="0F243E"/>
                </a:solidFill>
                <a:latin typeface="Calibri"/>
                <a:ea typeface="Calibri"/>
                <a:cs typeface="Calibri"/>
                <a:sym typeface="Calibri"/>
              </a:rPr>
              <a:t>ARM Cortex M0+</a:t>
            </a:r>
            <a:endParaRPr b="1" sz="3200">
              <a:solidFill>
                <a:srgbClr val="0F24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5" name="Google Shape;405;p10"/>
          <p:cNvGraphicFramePr/>
          <p:nvPr/>
        </p:nvGraphicFramePr>
        <p:xfrm>
          <a:off x="1945155" y="3695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502875"/>
                <a:gridCol w="1273175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06" name="Google Shape;406;p10"/>
          <p:cNvSpPr/>
          <p:nvPr/>
        </p:nvSpPr>
        <p:spPr>
          <a:xfrm>
            <a:off x="3383065" y="5837874"/>
            <a:ext cx="3145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5822305" y="4559046"/>
            <a:ext cx="105291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 R0, #2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6242729" y="3645062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9" name="Google Shape;409;p10"/>
          <p:cNvCxnSpPr/>
          <p:nvPr/>
        </p:nvCxnSpPr>
        <p:spPr>
          <a:xfrm>
            <a:off x="7055561" y="3800138"/>
            <a:ext cx="1153200" cy="1059900"/>
          </a:xfrm>
          <a:prstGeom prst="bentConnector3">
            <a:avLst>
              <a:gd fmla="val 50000" name="adj1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0" name="Google Shape;410;p10"/>
          <p:cNvSpPr/>
          <p:nvPr/>
        </p:nvSpPr>
        <p:spPr>
          <a:xfrm>
            <a:off x="2553892" y="6664468"/>
            <a:ext cx="55758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1" name="Google Shape;411;p10"/>
          <p:cNvCxnSpPr/>
          <p:nvPr/>
        </p:nvCxnSpPr>
        <p:spPr>
          <a:xfrm rot="5400000">
            <a:off x="2770081" y="5043294"/>
            <a:ext cx="1629600" cy="14100"/>
          </a:xfrm>
          <a:prstGeom prst="bentConnector3">
            <a:avLst>
              <a:gd fmla="val 2798" name="adj1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2" name="Google Shape;412;p10"/>
          <p:cNvCxnSpPr/>
          <p:nvPr/>
        </p:nvCxnSpPr>
        <p:spPr>
          <a:xfrm>
            <a:off x="4850794" y="4619590"/>
            <a:ext cx="675276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13" name="Google Shape;413;p10"/>
          <p:cNvCxnSpPr/>
          <p:nvPr/>
        </p:nvCxnSpPr>
        <p:spPr>
          <a:xfrm rot="5400000">
            <a:off x="3176331" y="5334852"/>
            <a:ext cx="1647600" cy="1319700"/>
          </a:xfrm>
          <a:prstGeom prst="bentConnector2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4" name="Google Shape;414;p10"/>
          <p:cNvCxnSpPr/>
          <p:nvPr/>
        </p:nvCxnSpPr>
        <p:spPr>
          <a:xfrm>
            <a:off x="361700" y="4559046"/>
            <a:ext cx="0" cy="2780812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5" name="Google Shape;415;p10"/>
          <p:cNvCxnSpPr/>
          <p:nvPr/>
        </p:nvCxnSpPr>
        <p:spPr>
          <a:xfrm rot="10800000">
            <a:off x="345012" y="4559046"/>
            <a:ext cx="220888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16" name="Google Shape;416;p10"/>
          <p:cNvCxnSpPr/>
          <p:nvPr/>
        </p:nvCxnSpPr>
        <p:spPr>
          <a:xfrm flipH="1">
            <a:off x="330498" y="7358976"/>
            <a:ext cx="2468690" cy="6746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7" name="Google Shape;417;p10"/>
          <p:cNvCxnSpPr/>
          <p:nvPr/>
        </p:nvCxnSpPr>
        <p:spPr>
          <a:xfrm>
            <a:off x="2827339" y="7050784"/>
            <a:ext cx="0" cy="341761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10"/>
          <p:cNvSpPr/>
          <p:nvPr/>
        </p:nvSpPr>
        <p:spPr>
          <a:xfrm>
            <a:off x="2491443" y="3720364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5688384" y="4552180"/>
            <a:ext cx="1367176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ADD R2, R0, R1</a:t>
            </a:r>
            <a:endParaRPr/>
          </a:p>
        </p:txBody>
      </p:sp>
      <p:cxnSp>
        <p:nvCxnSpPr>
          <p:cNvPr id="420" name="Google Shape;420;p10"/>
          <p:cNvCxnSpPr/>
          <p:nvPr/>
        </p:nvCxnSpPr>
        <p:spPr>
          <a:xfrm rot="10800000">
            <a:off x="7055465" y="4686766"/>
            <a:ext cx="1153200" cy="196200"/>
          </a:xfrm>
          <a:prstGeom prst="bentConnector3">
            <a:avLst>
              <a:gd fmla="val 50000" name="adj1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1" name="Google Shape;421;p10"/>
          <p:cNvCxnSpPr/>
          <p:nvPr/>
        </p:nvCxnSpPr>
        <p:spPr>
          <a:xfrm rot="10800000">
            <a:off x="4850794" y="3720364"/>
            <a:ext cx="698764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422" name="Google Shape;422;p10"/>
          <p:cNvSpPr/>
          <p:nvPr/>
        </p:nvSpPr>
        <p:spPr>
          <a:xfrm>
            <a:off x="6250700" y="3629132"/>
            <a:ext cx="276038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2489676" y="4066865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729788" y="1432268"/>
            <a:ext cx="9750537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Instrução:  ADD – Soma valores de Op1 e Op2 e armazena no registrador Rn.</a:t>
            </a:r>
            <a:endParaRPr sz="2000">
              <a:solidFill>
                <a:srgbClr val="0066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 Rn, Op1, Op2   ; Rn = Op1 + Op2</a:t>
            </a:r>
            <a:endParaRPr sz="2200">
              <a:solidFill>
                <a:srgbClr val="0066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25" name="Google Shape;425;p10"/>
          <p:cNvCxnSpPr/>
          <p:nvPr/>
        </p:nvCxnSpPr>
        <p:spPr>
          <a:xfrm flipH="1" rot="10800000">
            <a:off x="914726" y="2137422"/>
            <a:ext cx="110102" cy="304362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6" name="Google Shape;426;p10"/>
          <p:cNvSpPr txBox="1"/>
          <p:nvPr/>
        </p:nvSpPr>
        <p:spPr>
          <a:xfrm>
            <a:off x="410940" y="2343893"/>
            <a:ext cx="86754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OpCode</a:t>
            </a:r>
            <a:endParaRPr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27" name="Google Shape;427;p10"/>
          <p:cNvCxnSpPr/>
          <p:nvPr/>
        </p:nvCxnSpPr>
        <p:spPr>
          <a:xfrm rot="10800000">
            <a:off x="1634913" y="2111087"/>
            <a:ext cx="0" cy="330697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8" name="Google Shape;428;p10"/>
          <p:cNvSpPr txBox="1"/>
          <p:nvPr/>
        </p:nvSpPr>
        <p:spPr>
          <a:xfrm>
            <a:off x="1218138" y="2367739"/>
            <a:ext cx="82426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Destino</a:t>
            </a:r>
            <a:endParaRPr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29" name="Google Shape;429;p10"/>
          <p:cNvCxnSpPr/>
          <p:nvPr/>
        </p:nvCxnSpPr>
        <p:spPr>
          <a:xfrm rot="10800000">
            <a:off x="2250462" y="2103352"/>
            <a:ext cx="6454" cy="317957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0" name="Google Shape;430;p10"/>
          <p:cNvSpPr txBox="1"/>
          <p:nvPr/>
        </p:nvSpPr>
        <p:spPr>
          <a:xfrm>
            <a:off x="1952399" y="2367157"/>
            <a:ext cx="120298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Valor 1</a:t>
            </a:r>
            <a:endParaRPr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31" name="Google Shape;431;p10"/>
          <p:cNvCxnSpPr/>
          <p:nvPr/>
        </p:nvCxnSpPr>
        <p:spPr>
          <a:xfrm rot="10800000">
            <a:off x="2930830" y="2103352"/>
            <a:ext cx="6454" cy="317957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2" name="Google Shape;432;p10"/>
          <p:cNvSpPr txBox="1"/>
          <p:nvPr/>
        </p:nvSpPr>
        <p:spPr>
          <a:xfrm>
            <a:off x="2597038" y="2366673"/>
            <a:ext cx="120298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Valor 2</a:t>
            </a:r>
            <a:endParaRPr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33" name="Google Shape;433;p10"/>
          <p:cNvCxnSpPr/>
          <p:nvPr/>
        </p:nvCxnSpPr>
        <p:spPr>
          <a:xfrm rot="5400000">
            <a:off x="1403090" y="4537741"/>
            <a:ext cx="2046000" cy="605400"/>
          </a:xfrm>
          <a:prstGeom prst="bentConnector3">
            <a:avLst>
              <a:gd fmla="val 50002" name="adj1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4" name="Google Shape;434;p10"/>
          <p:cNvSpPr/>
          <p:nvPr/>
        </p:nvSpPr>
        <p:spPr>
          <a:xfrm>
            <a:off x="2003705" y="5855362"/>
            <a:ext cx="3145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2556098" y="6661912"/>
            <a:ext cx="510076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2423252" y="6989198"/>
            <a:ext cx="3145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" name="Google Shape;437;p10"/>
          <p:cNvCxnSpPr/>
          <p:nvPr/>
        </p:nvCxnSpPr>
        <p:spPr>
          <a:xfrm>
            <a:off x="3805158" y="3440584"/>
            <a:ext cx="567693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438" name="Google Shape;438;p10"/>
          <p:cNvSpPr/>
          <p:nvPr/>
        </p:nvSpPr>
        <p:spPr>
          <a:xfrm>
            <a:off x="2489676" y="4396511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oogle Shape;443;p11"/>
          <p:cNvGrpSpPr/>
          <p:nvPr/>
        </p:nvGrpSpPr>
        <p:grpSpPr>
          <a:xfrm>
            <a:off x="358650" y="2903232"/>
            <a:ext cx="9301100" cy="4521352"/>
            <a:chOff x="358650" y="2903232"/>
            <a:chExt cx="9301100" cy="4521352"/>
          </a:xfrm>
        </p:grpSpPr>
        <p:sp>
          <p:nvSpPr>
            <p:cNvPr id="444" name="Google Shape;444;p11"/>
            <p:cNvSpPr/>
            <p:nvPr/>
          </p:nvSpPr>
          <p:spPr>
            <a:xfrm>
              <a:off x="7715781" y="3310355"/>
              <a:ext cx="1943969" cy="4114229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Memória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(Grande e Lenta)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5" name="Google Shape;445;p11"/>
            <p:cNvSpPr/>
            <p:nvPr/>
          </p:nvSpPr>
          <p:spPr>
            <a:xfrm>
              <a:off x="1861189" y="2903232"/>
              <a:ext cx="1943969" cy="2618470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Propósito Geral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(Pequena e Rápida)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6" name="Google Shape;446;p11"/>
            <p:cNvSpPr/>
            <p:nvPr/>
          </p:nvSpPr>
          <p:spPr>
            <a:xfrm rot="-5400000">
              <a:off x="3676612" y="3983226"/>
              <a:ext cx="1847054" cy="501311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8C3A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Controle</a:t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47" name="Google Shape;447;p11"/>
            <p:cNvCxnSpPr/>
            <p:nvPr/>
          </p:nvCxnSpPr>
          <p:spPr>
            <a:xfrm>
              <a:off x="7200552" y="4619590"/>
              <a:ext cx="4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448" name="Google Shape;448;p11"/>
            <p:cNvCxnSpPr/>
            <p:nvPr/>
          </p:nvCxnSpPr>
          <p:spPr>
            <a:xfrm rot="10800000">
              <a:off x="7217017" y="3709512"/>
              <a:ext cx="4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449" name="Google Shape;449;p11"/>
            <p:cNvSpPr txBox="1"/>
            <p:nvPr/>
          </p:nvSpPr>
          <p:spPr>
            <a:xfrm>
              <a:off x="3520019" y="552170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Operando 2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50" name="Google Shape;450;p11"/>
            <p:cNvCxnSpPr/>
            <p:nvPr/>
          </p:nvCxnSpPr>
          <p:spPr>
            <a:xfrm rot="10800000">
              <a:off x="4981745" y="6170453"/>
              <a:ext cx="557399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451" name="Google Shape;451;p11"/>
            <p:cNvCxnSpPr/>
            <p:nvPr/>
          </p:nvCxnSpPr>
          <p:spPr>
            <a:xfrm>
              <a:off x="358650" y="3419797"/>
              <a:ext cx="0" cy="393365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2" name="Google Shape;452;p11"/>
            <p:cNvCxnSpPr/>
            <p:nvPr/>
          </p:nvCxnSpPr>
          <p:spPr>
            <a:xfrm rot="10800000">
              <a:off x="358650" y="3440584"/>
              <a:ext cx="151091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453" name="Google Shape;453;p11"/>
            <p:cNvCxnSpPr/>
            <p:nvPr/>
          </p:nvCxnSpPr>
          <p:spPr>
            <a:xfrm>
              <a:off x="7200044" y="7092205"/>
              <a:ext cx="515737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454" name="Google Shape;454;p11"/>
            <p:cNvSpPr/>
            <p:nvPr/>
          </p:nvSpPr>
          <p:spPr>
            <a:xfrm>
              <a:off x="1869564" y="5849949"/>
              <a:ext cx="1943969" cy="1200835"/>
            </a:xfrm>
            <a:custGeom>
              <a:rect b="b" l="l" r="r" t="t"/>
              <a:pathLst>
                <a:path extrusionOk="0" h="1193074" w="2295391">
                  <a:moveTo>
                    <a:pt x="0" y="0"/>
                  </a:moveTo>
                  <a:lnTo>
                    <a:pt x="522514" y="0"/>
                  </a:lnTo>
                  <a:lnTo>
                    <a:pt x="664039" y="386189"/>
                  </a:lnTo>
                  <a:lnTo>
                    <a:pt x="1607805" y="386189"/>
                  </a:lnTo>
                  <a:lnTo>
                    <a:pt x="1750423" y="10073"/>
                  </a:lnTo>
                  <a:lnTo>
                    <a:pt x="2295391" y="6400"/>
                  </a:lnTo>
                  <a:lnTo>
                    <a:pt x="1663337" y="1193074"/>
                  </a:lnTo>
                  <a:lnTo>
                    <a:pt x="635725" y="11930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cap="flat" cmpd="sng" w="25400">
              <a:solidFill>
                <a:srgbClr val="B46D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</a:t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5" name="Google Shape;455;p11"/>
            <p:cNvSpPr/>
            <p:nvPr/>
          </p:nvSpPr>
          <p:spPr>
            <a:xfrm>
              <a:off x="5549558" y="6648121"/>
              <a:ext cx="1656078" cy="776463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Dados</a:t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6" name="Google Shape;456;p11"/>
            <p:cNvSpPr/>
            <p:nvPr/>
          </p:nvSpPr>
          <p:spPr>
            <a:xfrm>
              <a:off x="5549558" y="5720948"/>
              <a:ext cx="1656078" cy="767919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Endereço da Memória</a:t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57" name="Google Shape;457;p11"/>
            <p:cNvCxnSpPr/>
            <p:nvPr/>
          </p:nvCxnSpPr>
          <p:spPr>
            <a:xfrm rot="10800000">
              <a:off x="7200552" y="6138655"/>
              <a:ext cx="483992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458" name="Google Shape;458;p11"/>
            <p:cNvCxnSpPr/>
            <p:nvPr/>
          </p:nvCxnSpPr>
          <p:spPr>
            <a:xfrm rot="10800000">
              <a:off x="3564407" y="5521702"/>
              <a:ext cx="6312" cy="32824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459" name="Google Shape;459;p11"/>
            <p:cNvCxnSpPr/>
            <p:nvPr/>
          </p:nvCxnSpPr>
          <p:spPr>
            <a:xfrm rot="10800000">
              <a:off x="2124247" y="5521702"/>
              <a:ext cx="0" cy="32824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460" name="Google Shape;460;p11"/>
            <p:cNvSpPr/>
            <p:nvPr/>
          </p:nvSpPr>
          <p:spPr>
            <a:xfrm>
              <a:off x="5543966" y="3314327"/>
              <a:ext cx="1656078" cy="787978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188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Contador de Programa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1" name="Google Shape;461;p11"/>
            <p:cNvSpPr/>
            <p:nvPr/>
          </p:nvSpPr>
          <p:spPr>
            <a:xfrm>
              <a:off x="5543966" y="4241500"/>
              <a:ext cx="1656078" cy="787978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188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Instrução</a:t>
              </a:r>
              <a:endPara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2" name="Google Shape;462;p11"/>
            <p:cNvSpPr txBox="1"/>
            <p:nvPr/>
          </p:nvSpPr>
          <p:spPr>
            <a:xfrm>
              <a:off x="2044123" y="552170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Operando 1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63" name="Google Shape;463;p11"/>
            <p:cNvCxnSpPr/>
            <p:nvPr/>
          </p:nvCxnSpPr>
          <p:spPr>
            <a:xfrm rot="10800000">
              <a:off x="358650" y="7353449"/>
              <a:ext cx="518049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464" name="Google Shape;464;p11"/>
            <p:cNvCxnSpPr/>
            <p:nvPr/>
          </p:nvCxnSpPr>
          <p:spPr>
            <a:xfrm rot="10800000">
              <a:off x="2833172" y="7064375"/>
              <a:ext cx="0" cy="28907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465" name="Google Shape;465;p11"/>
            <p:cNvCxnSpPr/>
            <p:nvPr/>
          </p:nvCxnSpPr>
          <p:spPr>
            <a:xfrm>
              <a:off x="4981745" y="6189607"/>
              <a:ext cx="0" cy="116384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6" name="Google Shape;466;p11"/>
            <p:cNvCxnSpPr/>
            <p:nvPr/>
          </p:nvCxnSpPr>
          <p:spPr>
            <a:xfrm rot="5400000">
              <a:off x="3184556" y="5342932"/>
              <a:ext cx="1647455" cy="1303395"/>
            </a:xfrm>
            <a:prstGeom prst="bentConnector2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67" name="Google Shape;467;p11"/>
            <p:cNvSpPr txBox="1"/>
            <p:nvPr/>
          </p:nvSpPr>
          <p:spPr>
            <a:xfrm>
              <a:off x="3505817" y="655419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Operação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68" name="Google Shape;468;p11"/>
            <p:cNvCxnSpPr/>
            <p:nvPr/>
          </p:nvCxnSpPr>
          <p:spPr>
            <a:xfrm rot="10800000">
              <a:off x="4850794" y="3709512"/>
              <a:ext cx="6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469" name="Google Shape;469;p11"/>
            <p:cNvCxnSpPr/>
            <p:nvPr/>
          </p:nvCxnSpPr>
          <p:spPr>
            <a:xfrm>
              <a:off x="3805158" y="3440584"/>
              <a:ext cx="544325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470" name="Google Shape;470;p11"/>
            <p:cNvCxnSpPr/>
            <p:nvPr/>
          </p:nvCxnSpPr>
          <p:spPr>
            <a:xfrm>
              <a:off x="4850794" y="4619590"/>
              <a:ext cx="675276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471" name="Google Shape;471;p11"/>
            <p:cNvSpPr txBox="1"/>
            <p:nvPr/>
          </p:nvSpPr>
          <p:spPr>
            <a:xfrm>
              <a:off x="2827339" y="7062859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Destino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aphicFrame>
        <p:nvGraphicFramePr>
          <p:cNvPr id="472" name="Google Shape;472;p11"/>
          <p:cNvGraphicFramePr/>
          <p:nvPr/>
        </p:nvGraphicFramePr>
        <p:xfrm>
          <a:off x="7799747" y="39528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360050"/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MOV R0, #2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MOV R1, </a:t>
                      </a: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R0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ADD R2, R0, R1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MOV R3, #0x8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STR R2, [R3]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3" name="Google Shape;473;p11"/>
          <p:cNvGraphicFramePr/>
          <p:nvPr/>
        </p:nvGraphicFramePr>
        <p:xfrm>
          <a:off x="5680722" y="60022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4" name="Google Shape;474;p11"/>
          <p:cNvGraphicFramePr/>
          <p:nvPr/>
        </p:nvGraphicFramePr>
        <p:xfrm>
          <a:off x="5675130" y="36157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5" name="Google Shape;475;p11"/>
          <p:cNvGraphicFramePr/>
          <p:nvPr/>
        </p:nvGraphicFramePr>
        <p:xfrm>
          <a:off x="5675130" y="45429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6" name="Google Shape;476;p11"/>
          <p:cNvGraphicFramePr/>
          <p:nvPr/>
        </p:nvGraphicFramePr>
        <p:xfrm>
          <a:off x="2419458" y="66348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8641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7" name="Google Shape;477;p11"/>
          <p:cNvGraphicFramePr/>
          <p:nvPr/>
        </p:nvGraphicFramePr>
        <p:xfrm>
          <a:off x="5666804" y="69748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78" name="Google Shape;478;p11"/>
          <p:cNvSpPr txBox="1"/>
          <p:nvPr/>
        </p:nvSpPr>
        <p:spPr>
          <a:xfrm>
            <a:off x="45998" y="1221482"/>
            <a:ext cx="9805212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006663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 fim do ciclo o PC é incrementado, apontando para a próxima instrução.</a:t>
            </a:r>
            <a:endParaRPr/>
          </a:p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006663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instrução é copiada para o Registrador de Instrução (IR) – “FETCH”.</a:t>
            </a:r>
            <a:endParaRPr/>
          </a:p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006663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Controle decodifica a instrução e carrega variáveis – “DECODE”.</a:t>
            </a:r>
            <a:endParaRPr/>
          </a:p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006663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operação é executada pelo ALU – “EXECUTE”.</a:t>
            </a:r>
            <a:endParaRPr/>
          </a:p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006663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resultado é armazenado no registrador  R3 – “STORE”.</a:t>
            </a:r>
            <a:endParaRPr/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0066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9" name="Google Shape;479;p11"/>
          <p:cNvSpPr txBox="1"/>
          <p:nvPr/>
        </p:nvSpPr>
        <p:spPr>
          <a:xfrm>
            <a:off x="345012" y="560206"/>
            <a:ext cx="9506198" cy="983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0F243E"/>
                </a:solidFill>
                <a:latin typeface="Calibri"/>
                <a:ea typeface="Calibri"/>
                <a:cs typeface="Calibri"/>
                <a:sym typeface="Calibri"/>
              </a:rPr>
              <a:t>Arquitetura Simplificada “Load/Store” – </a:t>
            </a:r>
            <a:r>
              <a:rPr b="1" lang="pt-BR" sz="2400">
                <a:solidFill>
                  <a:srgbClr val="0F243E"/>
                </a:solidFill>
                <a:latin typeface="Calibri"/>
                <a:ea typeface="Calibri"/>
                <a:cs typeface="Calibri"/>
                <a:sym typeface="Calibri"/>
              </a:rPr>
              <a:t>ARM Cortex M0+</a:t>
            </a:r>
            <a:endParaRPr b="1" sz="3200">
              <a:solidFill>
                <a:srgbClr val="0F24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0" name="Google Shape;480;p11"/>
          <p:cNvGraphicFramePr/>
          <p:nvPr/>
        </p:nvGraphicFramePr>
        <p:xfrm>
          <a:off x="1945155" y="3695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502875"/>
                <a:gridCol w="1273175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 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81" name="Google Shape;481;p11"/>
          <p:cNvSpPr/>
          <p:nvPr/>
        </p:nvSpPr>
        <p:spPr>
          <a:xfrm>
            <a:off x="5822305" y="4559046"/>
            <a:ext cx="105291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 R0, #2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1"/>
          <p:cNvSpPr/>
          <p:nvPr/>
        </p:nvSpPr>
        <p:spPr>
          <a:xfrm>
            <a:off x="6242729" y="3645062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cxnSp>
        <p:nvCxnSpPr>
          <p:cNvPr id="483" name="Google Shape;483;p11"/>
          <p:cNvCxnSpPr/>
          <p:nvPr/>
        </p:nvCxnSpPr>
        <p:spPr>
          <a:xfrm>
            <a:off x="6697175" y="3785762"/>
            <a:ext cx="1527900" cy="1385100"/>
          </a:xfrm>
          <a:prstGeom prst="bentConnector3">
            <a:avLst>
              <a:gd fmla="val 50002" name="adj1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4" name="Google Shape;484;p11"/>
          <p:cNvSpPr/>
          <p:nvPr/>
        </p:nvSpPr>
        <p:spPr>
          <a:xfrm>
            <a:off x="2553892" y="6664468"/>
            <a:ext cx="55758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5" name="Google Shape;485;p11"/>
          <p:cNvCxnSpPr/>
          <p:nvPr/>
        </p:nvCxnSpPr>
        <p:spPr>
          <a:xfrm rot="5400000">
            <a:off x="2779980" y="4256060"/>
            <a:ext cx="2404500" cy="807900"/>
          </a:xfrm>
          <a:prstGeom prst="bentConnector3">
            <a:avLst>
              <a:gd fmla="val -178" name="adj1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6" name="Google Shape;486;p11"/>
          <p:cNvCxnSpPr/>
          <p:nvPr/>
        </p:nvCxnSpPr>
        <p:spPr>
          <a:xfrm>
            <a:off x="4850794" y="4619590"/>
            <a:ext cx="675276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87" name="Google Shape;487;p11"/>
          <p:cNvCxnSpPr/>
          <p:nvPr/>
        </p:nvCxnSpPr>
        <p:spPr>
          <a:xfrm rot="5400000">
            <a:off x="3176331" y="5334852"/>
            <a:ext cx="1647600" cy="1319700"/>
          </a:xfrm>
          <a:prstGeom prst="bentConnector2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8" name="Google Shape;488;p11"/>
          <p:cNvCxnSpPr/>
          <p:nvPr/>
        </p:nvCxnSpPr>
        <p:spPr>
          <a:xfrm>
            <a:off x="361700" y="4859957"/>
            <a:ext cx="0" cy="2479901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9" name="Google Shape;489;p11"/>
          <p:cNvCxnSpPr/>
          <p:nvPr/>
        </p:nvCxnSpPr>
        <p:spPr>
          <a:xfrm rot="10800000">
            <a:off x="330498" y="4882966"/>
            <a:ext cx="220888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90" name="Google Shape;490;p11"/>
          <p:cNvCxnSpPr/>
          <p:nvPr/>
        </p:nvCxnSpPr>
        <p:spPr>
          <a:xfrm flipH="1">
            <a:off x="330498" y="7358976"/>
            <a:ext cx="2468690" cy="6746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1" name="Google Shape;491;p11"/>
          <p:cNvCxnSpPr/>
          <p:nvPr/>
        </p:nvCxnSpPr>
        <p:spPr>
          <a:xfrm>
            <a:off x="2827339" y="7050784"/>
            <a:ext cx="0" cy="341761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2" name="Google Shape;492;p11"/>
          <p:cNvSpPr/>
          <p:nvPr/>
        </p:nvSpPr>
        <p:spPr>
          <a:xfrm>
            <a:off x="2491443" y="3720364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1"/>
          <p:cNvSpPr/>
          <p:nvPr/>
        </p:nvSpPr>
        <p:spPr>
          <a:xfrm>
            <a:off x="5688384" y="4552180"/>
            <a:ext cx="1367176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MOV R3, #0x8</a:t>
            </a:r>
            <a:endParaRPr/>
          </a:p>
        </p:txBody>
      </p:sp>
      <p:cxnSp>
        <p:nvCxnSpPr>
          <p:cNvPr id="494" name="Google Shape;494;p11"/>
          <p:cNvCxnSpPr/>
          <p:nvPr/>
        </p:nvCxnSpPr>
        <p:spPr>
          <a:xfrm rot="10800000">
            <a:off x="7055465" y="4686846"/>
            <a:ext cx="1153200" cy="516900"/>
          </a:xfrm>
          <a:prstGeom prst="bentConnector3">
            <a:avLst>
              <a:gd fmla="val 50000" name="adj1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5" name="Google Shape;495;p11"/>
          <p:cNvCxnSpPr/>
          <p:nvPr/>
        </p:nvCxnSpPr>
        <p:spPr>
          <a:xfrm rot="10800000">
            <a:off x="4850794" y="3720364"/>
            <a:ext cx="698764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496" name="Google Shape;496;p11"/>
          <p:cNvSpPr/>
          <p:nvPr/>
        </p:nvSpPr>
        <p:spPr>
          <a:xfrm>
            <a:off x="6224583" y="3625635"/>
            <a:ext cx="276038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1"/>
          <p:cNvSpPr/>
          <p:nvPr/>
        </p:nvSpPr>
        <p:spPr>
          <a:xfrm>
            <a:off x="2489676" y="4066865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8" name="Google Shape;498;p11"/>
          <p:cNvCxnSpPr/>
          <p:nvPr/>
        </p:nvCxnSpPr>
        <p:spPr>
          <a:xfrm rot="10800000">
            <a:off x="9121121" y="5203745"/>
            <a:ext cx="167663" cy="517203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9" name="Google Shape;499;p11"/>
          <p:cNvSpPr txBox="1"/>
          <p:nvPr/>
        </p:nvSpPr>
        <p:spPr>
          <a:xfrm>
            <a:off x="8208665" y="5629423"/>
            <a:ext cx="177735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Valor em Hexa</a:t>
            </a:r>
            <a:endParaRPr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0" name="Google Shape;500;p11"/>
          <p:cNvSpPr/>
          <p:nvPr/>
        </p:nvSpPr>
        <p:spPr>
          <a:xfrm>
            <a:off x="2556098" y="6661912"/>
            <a:ext cx="557589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1"/>
          <p:cNvSpPr/>
          <p:nvPr/>
        </p:nvSpPr>
        <p:spPr>
          <a:xfrm>
            <a:off x="2489676" y="4740456"/>
            <a:ext cx="4459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0x8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1"/>
          <p:cNvSpPr/>
          <p:nvPr/>
        </p:nvSpPr>
        <p:spPr>
          <a:xfrm>
            <a:off x="3255765" y="5810775"/>
            <a:ext cx="56297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0x8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" name="Google Shape;507;p12"/>
          <p:cNvGrpSpPr/>
          <p:nvPr/>
        </p:nvGrpSpPr>
        <p:grpSpPr>
          <a:xfrm>
            <a:off x="358650" y="2903232"/>
            <a:ext cx="9301100" cy="4521352"/>
            <a:chOff x="358650" y="2903232"/>
            <a:chExt cx="9301100" cy="4521352"/>
          </a:xfrm>
        </p:grpSpPr>
        <p:sp>
          <p:nvSpPr>
            <p:cNvPr id="508" name="Google Shape;508;p12"/>
            <p:cNvSpPr/>
            <p:nvPr/>
          </p:nvSpPr>
          <p:spPr>
            <a:xfrm>
              <a:off x="7715781" y="3310355"/>
              <a:ext cx="1943969" cy="4114229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Memória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(Grande e Lenta)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9" name="Google Shape;509;p12"/>
            <p:cNvSpPr/>
            <p:nvPr/>
          </p:nvSpPr>
          <p:spPr>
            <a:xfrm>
              <a:off x="1861189" y="2903232"/>
              <a:ext cx="1943969" cy="2618470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Propósito Geral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(Pequena e Rápida)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0" name="Google Shape;510;p12"/>
            <p:cNvSpPr/>
            <p:nvPr/>
          </p:nvSpPr>
          <p:spPr>
            <a:xfrm rot="-5400000">
              <a:off x="3676612" y="3983226"/>
              <a:ext cx="1847054" cy="501311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8C3A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Controle</a:t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11" name="Google Shape;511;p12"/>
            <p:cNvCxnSpPr/>
            <p:nvPr/>
          </p:nvCxnSpPr>
          <p:spPr>
            <a:xfrm>
              <a:off x="7200552" y="4619590"/>
              <a:ext cx="4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512" name="Google Shape;512;p12"/>
            <p:cNvCxnSpPr/>
            <p:nvPr/>
          </p:nvCxnSpPr>
          <p:spPr>
            <a:xfrm rot="10800000">
              <a:off x="7217017" y="3709512"/>
              <a:ext cx="4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513" name="Google Shape;513;p12"/>
            <p:cNvSpPr txBox="1"/>
            <p:nvPr/>
          </p:nvSpPr>
          <p:spPr>
            <a:xfrm>
              <a:off x="3520019" y="552170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Operando 2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14" name="Google Shape;514;p12"/>
            <p:cNvCxnSpPr/>
            <p:nvPr/>
          </p:nvCxnSpPr>
          <p:spPr>
            <a:xfrm rot="10800000">
              <a:off x="4981745" y="6170453"/>
              <a:ext cx="557399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515" name="Google Shape;515;p12"/>
            <p:cNvCxnSpPr/>
            <p:nvPr/>
          </p:nvCxnSpPr>
          <p:spPr>
            <a:xfrm>
              <a:off x="358650" y="3419797"/>
              <a:ext cx="0" cy="393365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6" name="Google Shape;516;p12"/>
            <p:cNvCxnSpPr/>
            <p:nvPr/>
          </p:nvCxnSpPr>
          <p:spPr>
            <a:xfrm rot="10800000">
              <a:off x="358650" y="3440584"/>
              <a:ext cx="151091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517" name="Google Shape;517;p12"/>
            <p:cNvCxnSpPr/>
            <p:nvPr/>
          </p:nvCxnSpPr>
          <p:spPr>
            <a:xfrm>
              <a:off x="7200044" y="7092205"/>
              <a:ext cx="515737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518" name="Google Shape;518;p12"/>
            <p:cNvSpPr/>
            <p:nvPr/>
          </p:nvSpPr>
          <p:spPr>
            <a:xfrm>
              <a:off x="1869564" y="5849949"/>
              <a:ext cx="1943969" cy="1200835"/>
            </a:xfrm>
            <a:custGeom>
              <a:rect b="b" l="l" r="r" t="t"/>
              <a:pathLst>
                <a:path extrusionOk="0" h="1193074" w="2295391">
                  <a:moveTo>
                    <a:pt x="0" y="0"/>
                  </a:moveTo>
                  <a:lnTo>
                    <a:pt x="522514" y="0"/>
                  </a:lnTo>
                  <a:lnTo>
                    <a:pt x="664039" y="386189"/>
                  </a:lnTo>
                  <a:lnTo>
                    <a:pt x="1607805" y="386189"/>
                  </a:lnTo>
                  <a:lnTo>
                    <a:pt x="1750423" y="10073"/>
                  </a:lnTo>
                  <a:lnTo>
                    <a:pt x="2295391" y="6400"/>
                  </a:lnTo>
                  <a:lnTo>
                    <a:pt x="1663337" y="1193074"/>
                  </a:lnTo>
                  <a:lnTo>
                    <a:pt x="635725" y="11930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cap="flat" cmpd="sng" w="25400">
              <a:solidFill>
                <a:srgbClr val="B46D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</a:t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9" name="Google Shape;519;p12"/>
            <p:cNvSpPr/>
            <p:nvPr/>
          </p:nvSpPr>
          <p:spPr>
            <a:xfrm>
              <a:off x="5549558" y="6648121"/>
              <a:ext cx="1656078" cy="776463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Dados</a:t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0" name="Google Shape;520;p12"/>
            <p:cNvSpPr/>
            <p:nvPr/>
          </p:nvSpPr>
          <p:spPr>
            <a:xfrm>
              <a:off x="5549558" y="5720948"/>
              <a:ext cx="1656078" cy="767919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Endereço da Memória</a:t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21" name="Google Shape;521;p12"/>
            <p:cNvCxnSpPr/>
            <p:nvPr/>
          </p:nvCxnSpPr>
          <p:spPr>
            <a:xfrm rot="10800000">
              <a:off x="7200552" y="6138655"/>
              <a:ext cx="483992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522" name="Google Shape;522;p12"/>
            <p:cNvCxnSpPr/>
            <p:nvPr/>
          </p:nvCxnSpPr>
          <p:spPr>
            <a:xfrm rot="10800000">
              <a:off x="3564407" y="5521702"/>
              <a:ext cx="6312" cy="32824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523" name="Google Shape;523;p12"/>
            <p:cNvCxnSpPr/>
            <p:nvPr/>
          </p:nvCxnSpPr>
          <p:spPr>
            <a:xfrm rot="10800000">
              <a:off x="2124247" y="5521702"/>
              <a:ext cx="0" cy="32824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524" name="Google Shape;524;p12"/>
            <p:cNvSpPr/>
            <p:nvPr/>
          </p:nvSpPr>
          <p:spPr>
            <a:xfrm>
              <a:off x="5543966" y="3314327"/>
              <a:ext cx="1656078" cy="787978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188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Contador de Programa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5" name="Google Shape;525;p12"/>
            <p:cNvSpPr/>
            <p:nvPr/>
          </p:nvSpPr>
          <p:spPr>
            <a:xfrm>
              <a:off x="5543966" y="4241500"/>
              <a:ext cx="1656078" cy="787978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188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Instrução</a:t>
              </a:r>
              <a:endPara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6" name="Google Shape;526;p12"/>
            <p:cNvSpPr txBox="1"/>
            <p:nvPr/>
          </p:nvSpPr>
          <p:spPr>
            <a:xfrm>
              <a:off x="2044123" y="552170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Operando 1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27" name="Google Shape;527;p12"/>
            <p:cNvCxnSpPr/>
            <p:nvPr/>
          </p:nvCxnSpPr>
          <p:spPr>
            <a:xfrm rot="10800000">
              <a:off x="358650" y="7353449"/>
              <a:ext cx="518049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528" name="Google Shape;528;p12"/>
            <p:cNvCxnSpPr/>
            <p:nvPr/>
          </p:nvCxnSpPr>
          <p:spPr>
            <a:xfrm rot="10800000">
              <a:off x="2833172" y="7064375"/>
              <a:ext cx="0" cy="28907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529" name="Google Shape;529;p12"/>
            <p:cNvCxnSpPr/>
            <p:nvPr/>
          </p:nvCxnSpPr>
          <p:spPr>
            <a:xfrm>
              <a:off x="4981745" y="6189607"/>
              <a:ext cx="0" cy="116384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0" name="Google Shape;530;p12"/>
            <p:cNvCxnSpPr/>
            <p:nvPr/>
          </p:nvCxnSpPr>
          <p:spPr>
            <a:xfrm rot="5400000">
              <a:off x="3184556" y="5342932"/>
              <a:ext cx="1647455" cy="1303395"/>
            </a:xfrm>
            <a:prstGeom prst="bentConnector2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31" name="Google Shape;531;p12"/>
            <p:cNvSpPr txBox="1"/>
            <p:nvPr/>
          </p:nvSpPr>
          <p:spPr>
            <a:xfrm>
              <a:off x="3505817" y="655419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Operação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32" name="Google Shape;532;p12"/>
            <p:cNvCxnSpPr/>
            <p:nvPr/>
          </p:nvCxnSpPr>
          <p:spPr>
            <a:xfrm rot="10800000">
              <a:off x="4850794" y="3709512"/>
              <a:ext cx="6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533" name="Google Shape;533;p12"/>
            <p:cNvCxnSpPr/>
            <p:nvPr/>
          </p:nvCxnSpPr>
          <p:spPr>
            <a:xfrm>
              <a:off x="3805158" y="3440584"/>
              <a:ext cx="544325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534" name="Google Shape;534;p12"/>
            <p:cNvCxnSpPr/>
            <p:nvPr/>
          </p:nvCxnSpPr>
          <p:spPr>
            <a:xfrm>
              <a:off x="4850794" y="4619590"/>
              <a:ext cx="675276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535" name="Google Shape;535;p12"/>
            <p:cNvSpPr txBox="1"/>
            <p:nvPr/>
          </p:nvSpPr>
          <p:spPr>
            <a:xfrm>
              <a:off x="2827339" y="7062859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Destino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aphicFrame>
        <p:nvGraphicFramePr>
          <p:cNvPr id="536" name="Google Shape;536;p12"/>
          <p:cNvGraphicFramePr/>
          <p:nvPr/>
        </p:nvGraphicFramePr>
        <p:xfrm>
          <a:off x="7799747" y="39528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360050"/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MOV R0, #2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MOV R1, </a:t>
                      </a: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R0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ADD R2, R0, R1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MOV R3, #0x8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STR R2, [R3]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7" name="Google Shape;537;p12"/>
          <p:cNvGraphicFramePr/>
          <p:nvPr/>
        </p:nvGraphicFramePr>
        <p:xfrm>
          <a:off x="5680722" y="60022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8" name="Google Shape;538;p12"/>
          <p:cNvGraphicFramePr/>
          <p:nvPr/>
        </p:nvGraphicFramePr>
        <p:xfrm>
          <a:off x="5675130" y="36157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9" name="Google Shape;539;p12"/>
          <p:cNvGraphicFramePr/>
          <p:nvPr/>
        </p:nvGraphicFramePr>
        <p:xfrm>
          <a:off x="5675130" y="45429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0" name="Google Shape;540;p12"/>
          <p:cNvGraphicFramePr/>
          <p:nvPr/>
        </p:nvGraphicFramePr>
        <p:xfrm>
          <a:off x="2419458" y="66348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8641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1" name="Google Shape;541;p12"/>
          <p:cNvGraphicFramePr/>
          <p:nvPr/>
        </p:nvGraphicFramePr>
        <p:xfrm>
          <a:off x="5666804" y="69748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42" name="Google Shape;542;p12"/>
          <p:cNvSpPr txBox="1"/>
          <p:nvPr/>
        </p:nvSpPr>
        <p:spPr>
          <a:xfrm>
            <a:off x="45998" y="1221482"/>
            <a:ext cx="9805212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006663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 fim do ciclo o PC é incrementado, apontando para a próxima instrução.</a:t>
            </a:r>
            <a:endParaRPr/>
          </a:p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006663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instrução é copiada para o Registrador de Instrução (IR) – “FETCH”.</a:t>
            </a:r>
            <a:endParaRPr/>
          </a:p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006663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Controle decodifica a instrução e carrega variáveis – “DECODE”.</a:t>
            </a:r>
            <a:endParaRPr/>
          </a:p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006663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operação é executada pelo ALU – “EXECUTE”.</a:t>
            </a:r>
            <a:endParaRPr/>
          </a:p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rgbClr val="006663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resultado é armazenado na memória no endereço especificado pelo registrador R3 – “STORE”.</a:t>
            </a:r>
            <a:endParaRPr/>
          </a:p>
        </p:txBody>
      </p:sp>
      <p:sp>
        <p:nvSpPr>
          <p:cNvPr id="543" name="Google Shape;543;p12"/>
          <p:cNvSpPr txBox="1"/>
          <p:nvPr/>
        </p:nvSpPr>
        <p:spPr>
          <a:xfrm>
            <a:off x="345012" y="560206"/>
            <a:ext cx="9506198" cy="983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0F243E"/>
                </a:solidFill>
                <a:latin typeface="Calibri"/>
                <a:ea typeface="Calibri"/>
                <a:cs typeface="Calibri"/>
                <a:sym typeface="Calibri"/>
              </a:rPr>
              <a:t>Arquitetura Simplificada “Load/Store” – </a:t>
            </a:r>
            <a:r>
              <a:rPr b="1" lang="pt-BR" sz="2400">
                <a:solidFill>
                  <a:srgbClr val="0F243E"/>
                </a:solidFill>
                <a:latin typeface="Calibri"/>
                <a:ea typeface="Calibri"/>
                <a:cs typeface="Calibri"/>
                <a:sym typeface="Calibri"/>
              </a:rPr>
              <a:t>ARM Cortex M0+</a:t>
            </a:r>
            <a:endParaRPr b="1" sz="3200">
              <a:solidFill>
                <a:srgbClr val="0F24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4" name="Google Shape;544;p12"/>
          <p:cNvGraphicFramePr/>
          <p:nvPr/>
        </p:nvGraphicFramePr>
        <p:xfrm>
          <a:off x="1945155" y="3695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502875"/>
                <a:gridCol w="1273175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 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45" name="Google Shape;545;p12"/>
          <p:cNvSpPr/>
          <p:nvPr/>
        </p:nvSpPr>
        <p:spPr>
          <a:xfrm>
            <a:off x="5822305" y="4559046"/>
            <a:ext cx="105291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 R0, #2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2"/>
          <p:cNvSpPr/>
          <p:nvPr/>
        </p:nvSpPr>
        <p:spPr>
          <a:xfrm>
            <a:off x="6242729" y="3645062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7" name="Google Shape;547;p12"/>
          <p:cNvCxnSpPr/>
          <p:nvPr/>
        </p:nvCxnSpPr>
        <p:spPr>
          <a:xfrm>
            <a:off x="6574392" y="3814238"/>
            <a:ext cx="1751100" cy="1725600"/>
          </a:xfrm>
          <a:prstGeom prst="bentConnector3">
            <a:avLst>
              <a:gd fmla="val 50000" name="adj1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8" name="Google Shape;548;p12"/>
          <p:cNvSpPr/>
          <p:nvPr/>
        </p:nvSpPr>
        <p:spPr>
          <a:xfrm>
            <a:off x="2553892" y="6664468"/>
            <a:ext cx="55758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9" name="Google Shape;549;p12"/>
          <p:cNvCxnSpPr/>
          <p:nvPr/>
        </p:nvCxnSpPr>
        <p:spPr>
          <a:xfrm flipH="1" rot="-5400000">
            <a:off x="3081857" y="5365516"/>
            <a:ext cx="979200" cy="14100"/>
          </a:xfrm>
          <a:prstGeom prst="bentConnector3">
            <a:avLst>
              <a:gd fmla="val -1877" name="adj1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0" name="Google Shape;550;p12"/>
          <p:cNvCxnSpPr/>
          <p:nvPr/>
        </p:nvCxnSpPr>
        <p:spPr>
          <a:xfrm>
            <a:off x="4850794" y="4619590"/>
            <a:ext cx="675276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551" name="Google Shape;551;p12"/>
          <p:cNvCxnSpPr/>
          <p:nvPr/>
        </p:nvCxnSpPr>
        <p:spPr>
          <a:xfrm rot="5400000">
            <a:off x="3176331" y="5334852"/>
            <a:ext cx="1647600" cy="1319700"/>
          </a:xfrm>
          <a:prstGeom prst="bentConnector2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2" name="Google Shape;552;p12"/>
          <p:cNvCxnSpPr/>
          <p:nvPr/>
        </p:nvCxnSpPr>
        <p:spPr>
          <a:xfrm>
            <a:off x="4966074" y="6138655"/>
            <a:ext cx="0" cy="123559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3" name="Google Shape;553;p12"/>
          <p:cNvCxnSpPr/>
          <p:nvPr/>
        </p:nvCxnSpPr>
        <p:spPr>
          <a:xfrm rot="10800000">
            <a:off x="2827339" y="7353449"/>
            <a:ext cx="2698731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554" name="Google Shape;554;p12"/>
          <p:cNvCxnSpPr/>
          <p:nvPr/>
        </p:nvCxnSpPr>
        <p:spPr>
          <a:xfrm>
            <a:off x="2827339" y="7050784"/>
            <a:ext cx="0" cy="341761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5" name="Google Shape;555;p12"/>
          <p:cNvSpPr/>
          <p:nvPr/>
        </p:nvSpPr>
        <p:spPr>
          <a:xfrm>
            <a:off x="2491443" y="3720364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2"/>
          <p:cNvSpPr/>
          <p:nvPr/>
        </p:nvSpPr>
        <p:spPr>
          <a:xfrm>
            <a:off x="5688384" y="4552180"/>
            <a:ext cx="1367176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STR R2, [R3]</a:t>
            </a:r>
            <a:endParaRPr/>
          </a:p>
        </p:txBody>
      </p:sp>
      <p:cxnSp>
        <p:nvCxnSpPr>
          <p:cNvPr id="557" name="Google Shape;557;p12"/>
          <p:cNvCxnSpPr/>
          <p:nvPr/>
        </p:nvCxnSpPr>
        <p:spPr>
          <a:xfrm rot="10800000">
            <a:off x="7055465" y="4687008"/>
            <a:ext cx="1153200" cy="852900"/>
          </a:xfrm>
          <a:prstGeom prst="bentConnector3">
            <a:avLst>
              <a:gd fmla="val 50000" name="adj1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8" name="Google Shape;558;p12"/>
          <p:cNvCxnSpPr/>
          <p:nvPr/>
        </p:nvCxnSpPr>
        <p:spPr>
          <a:xfrm rot="10800000">
            <a:off x="4850794" y="3720364"/>
            <a:ext cx="698764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559" name="Google Shape;559;p12"/>
          <p:cNvSpPr/>
          <p:nvPr/>
        </p:nvSpPr>
        <p:spPr>
          <a:xfrm>
            <a:off x="6233953" y="3641582"/>
            <a:ext cx="276038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2"/>
          <p:cNvSpPr/>
          <p:nvPr/>
        </p:nvSpPr>
        <p:spPr>
          <a:xfrm>
            <a:off x="2489676" y="4066865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2"/>
          <p:cNvSpPr/>
          <p:nvPr/>
        </p:nvSpPr>
        <p:spPr>
          <a:xfrm>
            <a:off x="2627695" y="6646914"/>
            <a:ext cx="451149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2"/>
          <p:cNvSpPr/>
          <p:nvPr/>
        </p:nvSpPr>
        <p:spPr>
          <a:xfrm>
            <a:off x="2489676" y="4740456"/>
            <a:ext cx="4459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0x8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2"/>
          <p:cNvSpPr/>
          <p:nvPr/>
        </p:nvSpPr>
        <p:spPr>
          <a:xfrm>
            <a:off x="3255765" y="5810775"/>
            <a:ext cx="56297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0x8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2"/>
          <p:cNvSpPr/>
          <p:nvPr/>
        </p:nvSpPr>
        <p:spPr>
          <a:xfrm>
            <a:off x="548885" y="1201879"/>
            <a:ext cx="9279094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Instrução:  STORE – Armazena o valor do registrador Rn no endereço da memória indicado pelo registrador Rd.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STR Rn, [Rd]</a:t>
            </a:r>
            <a:endParaRPr sz="2200">
              <a:solidFill>
                <a:srgbClr val="0066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65" name="Google Shape;565;p12"/>
          <p:cNvCxnSpPr/>
          <p:nvPr/>
        </p:nvCxnSpPr>
        <p:spPr>
          <a:xfrm flipH="1" rot="10800000">
            <a:off x="4285472" y="2225189"/>
            <a:ext cx="110102" cy="304362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6" name="Google Shape;566;p12"/>
          <p:cNvSpPr txBox="1"/>
          <p:nvPr/>
        </p:nvSpPr>
        <p:spPr>
          <a:xfrm>
            <a:off x="3781686" y="2431660"/>
            <a:ext cx="86754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OpCode</a:t>
            </a:r>
            <a:endParaRPr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67" name="Google Shape;567;p12"/>
          <p:cNvCxnSpPr/>
          <p:nvPr/>
        </p:nvCxnSpPr>
        <p:spPr>
          <a:xfrm rot="10800000">
            <a:off x="5005659" y="2198854"/>
            <a:ext cx="0" cy="330697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8" name="Google Shape;568;p12"/>
          <p:cNvSpPr txBox="1"/>
          <p:nvPr/>
        </p:nvSpPr>
        <p:spPr>
          <a:xfrm>
            <a:off x="4588884" y="2455506"/>
            <a:ext cx="62998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Valor</a:t>
            </a:r>
            <a:endParaRPr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69" name="Google Shape;569;p12"/>
          <p:cNvCxnSpPr/>
          <p:nvPr/>
        </p:nvCxnSpPr>
        <p:spPr>
          <a:xfrm rot="10800000">
            <a:off x="5621208" y="2191119"/>
            <a:ext cx="6454" cy="317957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0" name="Google Shape;570;p12"/>
          <p:cNvSpPr txBox="1"/>
          <p:nvPr/>
        </p:nvSpPr>
        <p:spPr>
          <a:xfrm>
            <a:off x="5323145" y="2454924"/>
            <a:ext cx="120298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Endereço</a:t>
            </a:r>
            <a:endParaRPr/>
          </a:p>
        </p:txBody>
      </p:sp>
      <p:cxnSp>
        <p:nvCxnSpPr>
          <p:cNvPr id="571" name="Google Shape;571;p12"/>
          <p:cNvCxnSpPr/>
          <p:nvPr/>
        </p:nvCxnSpPr>
        <p:spPr>
          <a:xfrm>
            <a:off x="3805158" y="3440584"/>
            <a:ext cx="567693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572" name="Google Shape;572;p12"/>
          <p:cNvCxnSpPr/>
          <p:nvPr/>
        </p:nvCxnSpPr>
        <p:spPr>
          <a:xfrm rot="5400000">
            <a:off x="1735346" y="5023238"/>
            <a:ext cx="1230000" cy="448200"/>
          </a:xfrm>
          <a:prstGeom prst="bentConnector3">
            <a:avLst>
              <a:gd fmla="val 49994" name="adj1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3" name="Google Shape;573;p12"/>
          <p:cNvSpPr/>
          <p:nvPr/>
        </p:nvSpPr>
        <p:spPr>
          <a:xfrm>
            <a:off x="1978887" y="5810775"/>
            <a:ext cx="3145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2"/>
          <p:cNvSpPr/>
          <p:nvPr/>
        </p:nvSpPr>
        <p:spPr>
          <a:xfrm>
            <a:off x="6118616" y="6016437"/>
            <a:ext cx="4459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0x8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2"/>
          <p:cNvSpPr/>
          <p:nvPr/>
        </p:nvSpPr>
        <p:spPr>
          <a:xfrm>
            <a:off x="6201335" y="6968855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6" name="Google Shape;576;p12"/>
          <p:cNvCxnSpPr/>
          <p:nvPr/>
        </p:nvCxnSpPr>
        <p:spPr>
          <a:xfrm>
            <a:off x="7211308" y="6124491"/>
            <a:ext cx="1050000" cy="830100"/>
          </a:xfrm>
          <a:prstGeom prst="bentConnector3">
            <a:avLst>
              <a:gd fmla="val 50003" name="adj1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7" name="Google Shape;577;p12"/>
          <p:cNvCxnSpPr/>
          <p:nvPr/>
        </p:nvCxnSpPr>
        <p:spPr>
          <a:xfrm flipH="1" rot="10800000">
            <a:off x="7182522" y="6968964"/>
            <a:ext cx="1078800" cy="130500"/>
          </a:xfrm>
          <a:prstGeom prst="bentConnector3">
            <a:avLst>
              <a:gd fmla="val 50002" name="adj1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8" name="Google Shape;578;p12"/>
          <p:cNvCxnSpPr/>
          <p:nvPr/>
        </p:nvCxnSpPr>
        <p:spPr>
          <a:xfrm rot="10800000">
            <a:off x="5005659" y="6170453"/>
            <a:ext cx="520412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579" name="Google Shape;579;p12"/>
          <p:cNvSpPr/>
          <p:nvPr/>
        </p:nvSpPr>
        <p:spPr>
          <a:xfrm>
            <a:off x="8187457" y="6692690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4" name="Google Shape;584;p13"/>
          <p:cNvGrpSpPr/>
          <p:nvPr/>
        </p:nvGrpSpPr>
        <p:grpSpPr>
          <a:xfrm>
            <a:off x="358650" y="2903232"/>
            <a:ext cx="9301100" cy="4521352"/>
            <a:chOff x="358650" y="2903232"/>
            <a:chExt cx="9301100" cy="4521352"/>
          </a:xfrm>
        </p:grpSpPr>
        <p:sp>
          <p:nvSpPr>
            <p:cNvPr id="585" name="Google Shape;585;p13"/>
            <p:cNvSpPr/>
            <p:nvPr/>
          </p:nvSpPr>
          <p:spPr>
            <a:xfrm>
              <a:off x="7715781" y="3310355"/>
              <a:ext cx="1943969" cy="4114229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Memória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(Grande e Lenta)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6" name="Google Shape;586;p13"/>
            <p:cNvSpPr/>
            <p:nvPr/>
          </p:nvSpPr>
          <p:spPr>
            <a:xfrm>
              <a:off x="1861189" y="2903232"/>
              <a:ext cx="1943969" cy="2618470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Propósito Geral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(Pequena e Rápida)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7" name="Google Shape;587;p13"/>
            <p:cNvSpPr/>
            <p:nvPr/>
          </p:nvSpPr>
          <p:spPr>
            <a:xfrm rot="-5400000">
              <a:off x="3676612" y="3983226"/>
              <a:ext cx="1847054" cy="501311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8C3A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Controle</a:t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88" name="Google Shape;588;p13"/>
            <p:cNvCxnSpPr/>
            <p:nvPr/>
          </p:nvCxnSpPr>
          <p:spPr>
            <a:xfrm>
              <a:off x="7200552" y="4619590"/>
              <a:ext cx="4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589" name="Google Shape;589;p13"/>
            <p:cNvCxnSpPr/>
            <p:nvPr/>
          </p:nvCxnSpPr>
          <p:spPr>
            <a:xfrm rot="10800000">
              <a:off x="7217017" y="3709512"/>
              <a:ext cx="4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590" name="Google Shape;590;p13"/>
            <p:cNvSpPr txBox="1"/>
            <p:nvPr/>
          </p:nvSpPr>
          <p:spPr>
            <a:xfrm>
              <a:off x="3520019" y="552170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Operando 2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91" name="Google Shape;591;p13"/>
            <p:cNvCxnSpPr/>
            <p:nvPr/>
          </p:nvCxnSpPr>
          <p:spPr>
            <a:xfrm rot="10800000">
              <a:off x="4981745" y="6170453"/>
              <a:ext cx="557399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592" name="Google Shape;592;p13"/>
            <p:cNvCxnSpPr/>
            <p:nvPr/>
          </p:nvCxnSpPr>
          <p:spPr>
            <a:xfrm>
              <a:off x="358650" y="3419797"/>
              <a:ext cx="0" cy="393365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3" name="Google Shape;593;p13"/>
            <p:cNvCxnSpPr/>
            <p:nvPr/>
          </p:nvCxnSpPr>
          <p:spPr>
            <a:xfrm rot="10800000">
              <a:off x="358650" y="3440584"/>
              <a:ext cx="151091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594" name="Google Shape;594;p13"/>
            <p:cNvCxnSpPr/>
            <p:nvPr/>
          </p:nvCxnSpPr>
          <p:spPr>
            <a:xfrm>
              <a:off x="7200044" y="7092205"/>
              <a:ext cx="515737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595" name="Google Shape;595;p13"/>
            <p:cNvSpPr/>
            <p:nvPr/>
          </p:nvSpPr>
          <p:spPr>
            <a:xfrm>
              <a:off x="1869564" y="5849949"/>
              <a:ext cx="1943969" cy="1200835"/>
            </a:xfrm>
            <a:custGeom>
              <a:rect b="b" l="l" r="r" t="t"/>
              <a:pathLst>
                <a:path extrusionOk="0" h="1193074" w="2295391">
                  <a:moveTo>
                    <a:pt x="0" y="0"/>
                  </a:moveTo>
                  <a:lnTo>
                    <a:pt x="522514" y="0"/>
                  </a:lnTo>
                  <a:lnTo>
                    <a:pt x="664039" y="386189"/>
                  </a:lnTo>
                  <a:lnTo>
                    <a:pt x="1607805" y="386189"/>
                  </a:lnTo>
                  <a:lnTo>
                    <a:pt x="1750423" y="10073"/>
                  </a:lnTo>
                  <a:lnTo>
                    <a:pt x="2295391" y="6400"/>
                  </a:lnTo>
                  <a:lnTo>
                    <a:pt x="1663337" y="1193074"/>
                  </a:lnTo>
                  <a:lnTo>
                    <a:pt x="635725" y="11930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cap="flat" cmpd="sng" w="25400">
              <a:solidFill>
                <a:srgbClr val="B46D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</a:t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6" name="Google Shape;596;p13"/>
            <p:cNvSpPr/>
            <p:nvPr/>
          </p:nvSpPr>
          <p:spPr>
            <a:xfrm>
              <a:off x="5549558" y="6648121"/>
              <a:ext cx="1656078" cy="776463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Dados</a:t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7" name="Google Shape;597;p13"/>
            <p:cNvSpPr/>
            <p:nvPr/>
          </p:nvSpPr>
          <p:spPr>
            <a:xfrm>
              <a:off x="5549558" y="5720948"/>
              <a:ext cx="1656078" cy="767919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Endereço da Memória</a:t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98" name="Google Shape;598;p13"/>
            <p:cNvCxnSpPr/>
            <p:nvPr/>
          </p:nvCxnSpPr>
          <p:spPr>
            <a:xfrm rot="10800000">
              <a:off x="7200552" y="6138655"/>
              <a:ext cx="483992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599" name="Google Shape;599;p13"/>
            <p:cNvCxnSpPr/>
            <p:nvPr/>
          </p:nvCxnSpPr>
          <p:spPr>
            <a:xfrm rot="10800000">
              <a:off x="3564407" y="5521702"/>
              <a:ext cx="6312" cy="32824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600" name="Google Shape;600;p13"/>
            <p:cNvCxnSpPr/>
            <p:nvPr/>
          </p:nvCxnSpPr>
          <p:spPr>
            <a:xfrm rot="10800000">
              <a:off x="2124247" y="5521702"/>
              <a:ext cx="0" cy="32824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601" name="Google Shape;601;p13"/>
            <p:cNvSpPr/>
            <p:nvPr/>
          </p:nvSpPr>
          <p:spPr>
            <a:xfrm>
              <a:off x="5543966" y="3314327"/>
              <a:ext cx="1656078" cy="787978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188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Contador de Programa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2" name="Google Shape;602;p13"/>
            <p:cNvSpPr/>
            <p:nvPr/>
          </p:nvSpPr>
          <p:spPr>
            <a:xfrm>
              <a:off x="5543966" y="4241500"/>
              <a:ext cx="1656078" cy="787978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188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Instrução</a:t>
              </a:r>
              <a:endPara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3" name="Google Shape;603;p13"/>
            <p:cNvSpPr txBox="1"/>
            <p:nvPr/>
          </p:nvSpPr>
          <p:spPr>
            <a:xfrm>
              <a:off x="2044123" y="552170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Operando 1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04" name="Google Shape;604;p13"/>
            <p:cNvCxnSpPr/>
            <p:nvPr/>
          </p:nvCxnSpPr>
          <p:spPr>
            <a:xfrm rot="10800000">
              <a:off x="358650" y="7353449"/>
              <a:ext cx="518049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605" name="Google Shape;605;p13"/>
            <p:cNvCxnSpPr/>
            <p:nvPr/>
          </p:nvCxnSpPr>
          <p:spPr>
            <a:xfrm rot="10800000">
              <a:off x="2833172" y="7064375"/>
              <a:ext cx="0" cy="28907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606" name="Google Shape;606;p13"/>
            <p:cNvCxnSpPr/>
            <p:nvPr/>
          </p:nvCxnSpPr>
          <p:spPr>
            <a:xfrm>
              <a:off x="4981745" y="6189607"/>
              <a:ext cx="0" cy="116384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7" name="Google Shape;607;p13"/>
            <p:cNvCxnSpPr/>
            <p:nvPr/>
          </p:nvCxnSpPr>
          <p:spPr>
            <a:xfrm rot="5400000">
              <a:off x="3184556" y="5342932"/>
              <a:ext cx="1647455" cy="1303395"/>
            </a:xfrm>
            <a:prstGeom prst="bentConnector2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08" name="Google Shape;608;p13"/>
            <p:cNvSpPr txBox="1"/>
            <p:nvPr/>
          </p:nvSpPr>
          <p:spPr>
            <a:xfrm>
              <a:off x="3505817" y="655419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Operação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09" name="Google Shape;609;p13"/>
            <p:cNvCxnSpPr/>
            <p:nvPr/>
          </p:nvCxnSpPr>
          <p:spPr>
            <a:xfrm rot="10800000">
              <a:off x="4850794" y="3709512"/>
              <a:ext cx="6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610" name="Google Shape;610;p13"/>
            <p:cNvCxnSpPr/>
            <p:nvPr/>
          </p:nvCxnSpPr>
          <p:spPr>
            <a:xfrm>
              <a:off x="3805158" y="3440584"/>
              <a:ext cx="544325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611" name="Google Shape;611;p13"/>
            <p:cNvCxnSpPr/>
            <p:nvPr/>
          </p:nvCxnSpPr>
          <p:spPr>
            <a:xfrm>
              <a:off x="4850794" y="4619590"/>
              <a:ext cx="675276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612" name="Google Shape;612;p13"/>
            <p:cNvSpPr txBox="1"/>
            <p:nvPr/>
          </p:nvSpPr>
          <p:spPr>
            <a:xfrm>
              <a:off x="2827339" y="7062859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Destino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aphicFrame>
        <p:nvGraphicFramePr>
          <p:cNvPr id="613" name="Google Shape;613;p13"/>
          <p:cNvGraphicFramePr/>
          <p:nvPr/>
        </p:nvGraphicFramePr>
        <p:xfrm>
          <a:off x="7799747" y="39528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360050"/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MOV R0, #2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MOV R1, </a:t>
                      </a: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R0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ADD R2, R0, R1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MOV R3, #0x8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STR R2, [R3]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4" name="Google Shape;614;p13"/>
          <p:cNvGraphicFramePr/>
          <p:nvPr/>
        </p:nvGraphicFramePr>
        <p:xfrm>
          <a:off x="5680722" y="60022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5" name="Google Shape;615;p13"/>
          <p:cNvGraphicFramePr/>
          <p:nvPr/>
        </p:nvGraphicFramePr>
        <p:xfrm>
          <a:off x="5675130" y="36157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6" name="Google Shape;616;p13"/>
          <p:cNvGraphicFramePr/>
          <p:nvPr/>
        </p:nvGraphicFramePr>
        <p:xfrm>
          <a:off x="5675130" y="45429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7" name="Google Shape;617;p13"/>
          <p:cNvGraphicFramePr/>
          <p:nvPr/>
        </p:nvGraphicFramePr>
        <p:xfrm>
          <a:off x="2419458" y="66348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8641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8" name="Google Shape;618;p13"/>
          <p:cNvGraphicFramePr/>
          <p:nvPr/>
        </p:nvGraphicFramePr>
        <p:xfrm>
          <a:off x="5666804" y="69748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19" name="Google Shape;619;p13"/>
          <p:cNvSpPr txBox="1"/>
          <p:nvPr/>
        </p:nvSpPr>
        <p:spPr>
          <a:xfrm>
            <a:off x="345012" y="560206"/>
            <a:ext cx="9506198" cy="983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0F243E"/>
                </a:solidFill>
                <a:latin typeface="Calibri"/>
                <a:ea typeface="Calibri"/>
                <a:cs typeface="Calibri"/>
                <a:sym typeface="Calibri"/>
              </a:rPr>
              <a:t>Arquitetura Simplificada “Load/Store” – </a:t>
            </a:r>
            <a:r>
              <a:rPr b="1" lang="pt-BR" sz="2400">
                <a:solidFill>
                  <a:srgbClr val="0F243E"/>
                </a:solidFill>
                <a:latin typeface="Calibri"/>
                <a:ea typeface="Calibri"/>
                <a:cs typeface="Calibri"/>
                <a:sym typeface="Calibri"/>
              </a:rPr>
              <a:t>ARM Cortex M0+</a:t>
            </a:r>
            <a:endParaRPr b="1" sz="3200">
              <a:solidFill>
                <a:srgbClr val="0F24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0" name="Google Shape;620;p13"/>
          <p:cNvGraphicFramePr/>
          <p:nvPr/>
        </p:nvGraphicFramePr>
        <p:xfrm>
          <a:off x="1945155" y="3695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502875"/>
                <a:gridCol w="1273175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 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21" name="Google Shape;621;p13"/>
          <p:cNvSpPr/>
          <p:nvPr/>
        </p:nvSpPr>
        <p:spPr>
          <a:xfrm>
            <a:off x="5822305" y="4559046"/>
            <a:ext cx="105291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 R0, #2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3"/>
          <p:cNvSpPr/>
          <p:nvPr/>
        </p:nvSpPr>
        <p:spPr>
          <a:xfrm>
            <a:off x="2491443" y="3720364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3"/>
          <p:cNvSpPr/>
          <p:nvPr/>
        </p:nvSpPr>
        <p:spPr>
          <a:xfrm>
            <a:off x="5688384" y="4552180"/>
            <a:ext cx="1367176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LDR R4, [R3]</a:t>
            </a:r>
            <a:endParaRPr/>
          </a:p>
        </p:txBody>
      </p:sp>
      <p:sp>
        <p:nvSpPr>
          <p:cNvPr id="624" name="Google Shape;624;p13"/>
          <p:cNvSpPr/>
          <p:nvPr/>
        </p:nvSpPr>
        <p:spPr>
          <a:xfrm>
            <a:off x="6233953" y="3628357"/>
            <a:ext cx="276038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3"/>
          <p:cNvSpPr/>
          <p:nvPr/>
        </p:nvSpPr>
        <p:spPr>
          <a:xfrm>
            <a:off x="2489676" y="4066865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3"/>
          <p:cNvSpPr/>
          <p:nvPr/>
        </p:nvSpPr>
        <p:spPr>
          <a:xfrm>
            <a:off x="2489676" y="4740456"/>
            <a:ext cx="4459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0x8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3"/>
          <p:cNvSpPr/>
          <p:nvPr/>
        </p:nvSpPr>
        <p:spPr>
          <a:xfrm>
            <a:off x="8187457" y="6692690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3"/>
          <p:cNvSpPr/>
          <p:nvPr/>
        </p:nvSpPr>
        <p:spPr>
          <a:xfrm>
            <a:off x="2489676" y="5084628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3"/>
          <p:cNvSpPr txBox="1"/>
          <p:nvPr/>
        </p:nvSpPr>
        <p:spPr>
          <a:xfrm>
            <a:off x="358650" y="1352935"/>
            <a:ext cx="535674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que acontece no próximo ciclo?</a:t>
            </a:r>
            <a:endParaRPr sz="2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0" name="Google Shape;630;p13"/>
          <p:cNvSpPr txBox="1"/>
          <p:nvPr/>
        </p:nvSpPr>
        <p:spPr>
          <a:xfrm>
            <a:off x="345012" y="1885909"/>
            <a:ext cx="899094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FALHA!! Não tem instrução para executar!! O processador deve sempre rodar em loop infinito!!</a:t>
            </a:r>
            <a:endParaRPr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5" name="Google Shape;635;p14"/>
          <p:cNvGrpSpPr/>
          <p:nvPr/>
        </p:nvGrpSpPr>
        <p:grpSpPr>
          <a:xfrm>
            <a:off x="358650" y="2903232"/>
            <a:ext cx="9301100" cy="4521352"/>
            <a:chOff x="358650" y="2903232"/>
            <a:chExt cx="9301100" cy="4521352"/>
          </a:xfrm>
        </p:grpSpPr>
        <p:sp>
          <p:nvSpPr>
            <p:cNvPr id="636" name="Google Shape;636;p14"/>
            <p:cNvSpPr/>
            <p:nvPr/>
          </p:nvSpPr>
          <p:spPr>
            <a:xfrm>
              <a:off x="7715781" y="3310355"/>
              <a:ext cx="1943969" cy="4114229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Memória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(Grande e Lenta)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7" name="Google Shape;637;p14"/>
            <p:cNvSpPr/>
            <p:nvPr/>
          </p:nvSpPr>
          <p:spPr>
            <a:xfrm>
              <a:off x="1861189" y="2903232"/>
              <a:ext cx="1943969" cy="2618470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Propósito Geral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(Pequena e Rápida)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8" name="Google Shape;638;p14"/>
            <p:cNvSpPr/>
            <p:nvPr/>
          </p:nvSpPr>
          <p:spPr>
            <a:xfrm rot="-5400000">
              <a:off x="3676612" y="3983226"/>
              <a:ext cx="1847054" cy="501311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8C3A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Controle</a:t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39" name="Google Shape;639;p14"/>
            <p:cNvCxnSpPr/>
            <p:nvPr/>
          </p:nvCxnSpPr>
          <p:spPr>
            <a:xfrm>
              <a:off x="7200552" y="4619590"/>
              <a:ext cx="4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640" name="Google Shape;640;p14"/>
            <p:cNvCxnSpPr/>
            <p:nvPr/>
          </p:nvCxnSpPr>
          <p:spPr>
            <a:xfrm rot="10800000">
              <a:off x="7217017" y="3709512"/>
              <a:ext cx="4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641" name="Google Shape;641;p14"/>
            <p:cNvSpPr txBox="1"/>
            <p:nvPr/>
          </p:nvSpPr>
          <p:spPr>
            <a:xfrm>
              <a:off x="3520019" y="552170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Operando 2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42" name="Google Shape;642;p14"/>
            <p:cNvCxnSpPr/>
            <p:nvPr/>
          </p:nvCxnSpPr>
          <p:spPr>
            <a:xfrm rot="10800000">
              <a:off x="4981745" y="6170453"/>
              <a:ext cx="557399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643" name="Google Shape;643;p14"/>
            <p:cNvCxnSpPr/>
            <p:nvPr/>
          </p:nvCxnSpPr>
          <p:spPr>
            <a:xfrm>
              <a:off x="358650" y="3419797"/>
              <a:ext cx="0" cy="393365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4" name="Google Shape;644;p14"/>
            <p:cNvCxnSpPr/>
            <p:nvPr/>
          </p:nvCxnSpPr>
          <p:spPr>
            <a:xfrm rot="10800000">
              <a:off x="358650" y="3440584"/>
              <a:ext cx="151091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645" name="Google Shape;645;p14"/>
            <p:cNvCxnSpPr/>
            <p:nvPr/>
          </p:nvCxnSpPr>
          <p:spPr>
            <a:xfrm>
              <a:off x="7200044" y="7092205"/>
              <a:ext cx="515737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646" name="Google Shape;646;p14"/>
            <p:cNvSpPr/>
            <p:nvPr/>
          </p:nvSpPr>
          <p:spPr>
            <a:xfrm>
              <a:off x="1869564" y="5849949"/>
              <a:ext cx="1943969" cy="1200835"/>
            </a:xfrm>
            <a:custGeom>
              <a:rect b="b" l="l" r="r" t="t"/>
              <a:pathLst>
                <a:path extrusionOk="0" h="1193074" w="2295391">
                  <a:moveTo>
                    <a:pt x="0" y="0"/>
                  </a:moveTo>
                  <a:lnTo>
                    <a:pt x="522514" y="0"/>
                  </a:lnTo>
                  <a:lnTo>
                    <a:pt x="664039" y="386189"/>
                  </a:lnTo>
                  <a:lnTo>
                    <a:pt x="1607805" y="386189"/>
                  </a:lnTo>
                  <a:lnTo>
                    <a:pt x="1750423" y="10073"/>
                  </a:lnTo>
                  <a:lnTo>
                    <a:pt x="2295391" y="6400"/>
                  </a:lnTo>
                  <a:lnTo>
                    <a:pt x="1663337" y="1193074"/>
                  </a:lnTo>
                  <a:lnTo>
                    <a:pt x="635725" y="11930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cap="flat" cmpd="sng" w="25400">
              <a:solidFill>
                <a:srgbClr val="B46D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</a:t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7" name="Google Shape;647;p14"/>
            <p:cNvSpPr/>
            <p:nvPr/>
          </p:nvSpPr>
          <p:spPr>
            <a:xfrm>
              <a:off x="5549558" y="6648121"/>
              <a:ext cx="1656078" cy="776463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Dados</a:t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8" name="Google Shape;648;p14"/>
            <p:cNvSpPr/>
            <p:nvPr/>
          </p:nvSpPr>
          <p:spPr>
            <a:xfrm>
              <a:off x="5549558" y="5720948"/>
              <a:ext cx="1656078" cy="767919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Endereço da Memória</a:t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49" name="Google Shape;649;p14"/>
            <p:cNvCxnSpPr/>
            <p:nvPr/>
          </p:nvCxnSpPr>
          <p:spPr>
            <a:xfrm rot="10800000">
              <a:off x="7200552" y="6138655"/>
              <a:ext cx="483992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650" name="Google Shape;650;p14"/>
            <p:cNvCxnSpPr/>
            <p:nvPr/>
          </p:nvCxnSpPr>
          <p:spPr>
            <a:xfrm rot="10800000">
              <a:off x="3564407" y="5521702"/>
              <a:ext cx="6312" cy="32824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651" name="Google Shape;651;p14"/>
            <p:cNvCxnSpPr/>
            <p:nvPr/>
          </p:nvCxnSpPr>
          <p:spPr>
            <a:xfrm rot="10800000">
              <a:off x="2124247" y="5521702"/>
              <a:ext cx="0" cy="32824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652" name="Google Shape;652;p14"/>
            <p:cNvSpPr/>
            <p:nvPr/>
          </p:nvSpPr>
          <p:spPr>
            <a:xfrm>
              <a:off x="5543966" y="3314327"/>
              <a:ext cx="1656078" cy="787978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188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Contador de Programa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3" name="Google Shape;653;p14"/>
            <p:cNvSpPr/>
            <p:nvPr/>
          </p:nvSpPr>
          <p:spPr>
            <a:xfrm>
              <a:off x="5543966" y="4241500"/>
              <a:ext cx="1656078" cy="787978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188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Instrução</a:t>
              </a:r>
              <a:endPara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4" name="Google Shape;654;p14"/>
            <p:cNvSpPr txBox="1"/>
            <p:nvPr/>
          </p:nvSpPr>
          <p:spPr>
            <a:xfrm>
              <a:off x="2044123" y="552170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Operando 1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55" name="Google Shape;655;p14"/>
            <p:cNvCxnSpPr/>
            <p:nvPr/>
          </p:nvCxnSpPr>
          <p:spPr>
            <a:xfrm rot="10800000">
              <a:off x="358650" y="7353449"/>
              <a:ext cx="518049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656" name="Google Shape;656;p14"/>
            <p:cNvCxnSpPr/>
            <p:nvPr/>
          </p:nvCxnSpPr>
          <p:spPr>
            <a:xfrm rot="10800000">
              <a:off x="2833172" y="7064375"/>
              <a:ext cx="0" cy="28907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657" name="Google Shape;657;p14"/>
            <p:cNvCxnSpPr/>
            <p:nvPr/>
          </p:nvCxnSpPr>
          <p:spPr>
            <a:xfrm>
              <a:off x="4981745" y="6189607"/>
              <a:ext cx="0" cy="116384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8" name="Google Shape;658;p14"/>
            <p:cNvCxnSpPr/>
            <p:nvPr/>
          </p:nvCxnSpPr>
          <p:spPr>
            <a:xfrm rot="5400000">
              <a:off x="3184556" y="5342932"/>
              <a:ext cx="1647455" cy="1303395"/>
            </a:xfrm>
            <a:prstGeom prst="bentConnector2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59" name="Google Shape;659;p14"/>
            <p:cNvSpPr txBox="1"/>
            <p:nvPr/>
          </p:nvSpPr>
          <p:spPr>
            <a:xfrm>
              <a:off x="3505817" y="655419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Operação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60" name="Google Shape;660;p14"/>
            <p:cNvCxnSpPr/>
            <p:nvPr/>
          </p:nvCxnSpPr>
          <p:spPr>
            <a:xfrm rot="10800000">
              <a:off x="4850794" y="3709512"/>
              <a:ext cx="6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661" name="Google Shape;661;p14"/>
            <p:cNvCxnSpPr/>
            <p:nvPr/>
          </p:nvCxnSpPr>
          <p:spPr>
            <a:xfrm>
              <a:off x="3805158" y="3440584"/>
              <a:ext cx="544325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662" name="Google Shape;662;p14"/>
            <p:cNvCxnSpPr/>
            <p:nvPr/>
          </p:nvCxnSpPr>
          <p:spPr>
            <a:xfrm>
              <a:off x="4850794" y="4619590"/>
              <a:ext cx="675276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663" name="Google Shape;663;p14"/>
            <p:cNvSpPr txBox="1"/>
            <p:nvPr/>
          </p:nvSpPr>
          <p:spPr>
            <a:xfrm>
              <a:off x="2827339" y="7062859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Destino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aphicFrame>
        <p:nvGraphicFramePr>
          <p:cNvPr id="664" name="Google Shape;664;p14"/>
          <p:cNvGraphicFramePr/>
          <p:nvPr/>
        </p:nvGraphicFramePr>
        <p:xfrm>
          <a:off x="7799747" y="39528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360050"/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MOV R0, #2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MOV R1, </a:t>
                      </a: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R0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ADD R2, R0, R1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MOV R3, #0x8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STR R2, [R3]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5" name="Google Shape;665;p14"/>
          <p:cNvGraphicFramePr/>
          <p:nvPr/>
        </p:nvGraphicFramePr>
        <p:xfrm>
          <a:off x="5680722" y="60022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6" name="Google Shape;666;p14"/>
          <p:cNvGraphicFramePr/>
          <p:nvPr/>
        </p:nvGraphicFramePr>
        <p:xfrm>
          <a:off x="5675130" y="36157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7" name="Google Shape;667;p14"/>
          <p:cNvGraphicFramePr/>
          <p:nvPr/>
        </p:nvGraphicFramePr>
        <p:xfrm>
          <a:off x="5675130" y="45429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8" name="Google Shape;668;p14"/>
          <p:cNvGraphicFramePr/>
          <p:nvPr/>
        </p:nvGraphicFramePr>
        <p:xfrm>
          <a:off x="2419458" y="66348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8641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69" name="Google Shape;669;p14"/>
          <p:cNvGraphicFramePr/>
          <p:nvPr/>
        </p:nvGraphicFramePr>
        <p:xfrm>
          <a:off x="5666804" y="69748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70" name="Google Shape;670;p14"/>
          <p:cNvSpPr txBox="1"/>
          <p:nvPr/>
        </p:nvSpPr>
        <p:spPr>
          <a:xfrm>
            <a:off x="345012" y="560206"/>
            <a:ext cx="9506198" cy="983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0F243E"/>
                </a:solidFill>
                <a:latin typeface="Calibri"/>
                <a:ea typeface="Calibri"/>
                <a:cs typeface="Calibri"/>
                <a:sym typeface="Calibri"/>
              </a:rPr>
              <a:t>Arquitetura Simplificada “Load/Store” – </a:t>
            </a:r>
            <a:r>
              <a:rPr b="1" lang="pt-BR" sz="2400">
                <a:solidFill>
                  <a:srgbClr val="0F243E"/>
                </a:solidFill>
                <a:latin typeface="Calibri"/>
                <a:ea typeface="Calibri"/>
                <a:cs typeface="Calibri"/>
                <a:sym typeface="Calibri"/>
              </a:rPr>
              <a:t>ARM Cortex M0+</a:t>
            </a:r>
            <a:endParaRPr b="1" sz="3200">
              <a:solidFill>
                <a:srgbClr val="0F24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71" name="Google Shape;671;p14"/>
          <p:cNvGraphicFramePr/>
          <p:nvPr/>
        </p:nvGraphicFramePr>
        <p:xfrm>
          <a:off x="1945155" y="3695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502875"/>
                <a:gridCol w="1273175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 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72" name="Google Shape;672;p14"/>
          <p:cNvSpPr/>
          <p:nvPr/>
        </p:nvSpPr>
        <p:spPr>
          <a:xfrm>
            <a:off x="5822305" y="4559046"/>
            <a:ext cx="105291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 R0, #2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4"/>
          <p:cNvSpPr/>
          <p:nvPr/>
        </p:nvSpPr>
        <p:spPr>
          <a:xfrm>
            <a:off x="2491443" y="3720364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4"/>
          <p:cNvSpPr/>
          <p:nvPr/>
        </p:nvSpPr>
        <p:spPr>
          <a:xfrm>
            <a:off x="5688384" y="4552180"/>
            <a:ext cx="1367176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LDR R4, [R3]</a:t>
            </a:r>
            <a:endParaRPr/>
          </a:p>
        </p:txBody>
      </p:sp>
      <p:sp>
        <p:nvSpPr>
          <p:cNvPr id="675" name="Google Shape;675;p14"/>
          <p:cNvSpPr/>
          <p:nvPr/>
        </p:nvSpPr>
        <p:spPr>
          <a:xfrm>
            <a:off x="6233953" y="3628357"/>
            <a:ext cx="276038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4"/>
          <p:cNvSpPr/>
          <p:nvPr/>
        </p:nvSpPr>
        <p:spPr>
          <a:xfrm>
            <a:off x="2489676" y="4066865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4"/>
          <p:cNvSpPr/>
          <p:nvPr/>
        </p:nvSpPr>
        <p:spPr>
          <a:xfrm>
            <a:off x="2489676" y="4740456"/>
            <a:ext cx="4459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0x8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4"/>
          <p:cNvSpPr/>
          <p:nvPr/>
        </p:nvSpPr>
        <p:spPr>
          <a:xfrm>
            <a:off x="503809" y="1201299"/>
            <a:ext cx="9279094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Instrução:  LOAD – Carrega o registrador Rn com o valor do endereço da memória indicado pelo registrador Rd.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LDR Rn, [Rd]</a:t>
            </a:r>
            <a:endParaRPr sz="2200">
              <a:solidFill>
                <a:srgbClr val="0066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79" name="Google Shape;679;p14"/>
          <p:cNvCxnSpPr/>
          <p:nvPr/>
        </p:nvCxnSpPr>
        <p:spPr>
          <a:xfrm flipH="1" rot="10800000">
            <a:off x="1566258" y="2174921"/>
            <a:ext cx="110102" cy="304362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0" name="Google Shape;680;p14"/>
          <p:cNvSpPr txBox="1"/>
          <p:nvPr/>
        </p:nvSpPr>
        <p:spPr>
          <a:xfrm>
            <a:off x="1062472" y="2381392"/>
            <a:ext cx="86754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OpCode</a:t>
            </a:r>
            <a:endParaRPr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81" name="Google Shape;681;p14"/>
          <p:cNvCxnSpPr/>
          <p:nvPr/>
        </p:nvCxnSpPr>
        <p:spPr>
          <a:xfrm rot="10800000">
            <a:off x="2286445" y="2148586"/>
            <a:ext cx="0" cy="330697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2" name="Google Shape;682;p14"/>
          <p:cNvSpPr txBox="1"/>
          <p:nvPr/>
        </p:nvSpPr>
        <p:spPr>
          <a:xfrm>
            <a:off x="1869670" y="2405238"/>
            <a:ext cx="82426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Destino</a:t>
            </a:r>
            <a:endParaRPr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83" name="Google Shape;683;p14"/>
          <p:cNvCxnSpPr/>
          <p:nvPr/>
        </p:nvCxnSpPr>
        <p:spPr>
          <a:xfrm rot="10800000">
            <a:off x="2901994" y="2140851"/>
            <a:ext cx="6454" cy="317957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4" name="Google Shape;684;p14"/>
          <p:cNvSpPr txBox="1"/>
          <p:nvPr/>
        </p:nvSpPr>
        <p:spPr>
          <a:xfrm>
            <a:off x="2603931" y="2404656"/>
            <a:ext cx="120298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Endereço</a:t>
            </a:r>
            <a:endParaRPr/>
          </a:p>
        </p:txBody>
      </p:sp>
      <p:sp>
        <p:nvSpPr>
          <p:cNvPr id="685" name="Google Shape;685;p14"/>
          <p:cNvSpPr/>
          <p:nvPr/>
        </p:nvSpPr>
        <p:spPr>
          <a:xfrm>
            <a:off x="8166591" y="5661452"/>
            <a:ext cx="10807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LDR R4, [R3]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4"/>
          <p:cNvSpPr/>
          <p:nvPr/>
        </p:nvSpPr>
        <p:spPr>
          <a:xfrm>
            <a:off x="8187457" y="6692690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4"/>
          <p:cNvSpPr txBox="1"/>
          <p:nvPr/>
        </p:nvSpPr>
        <p:spPr>
          <a:xfrm>
            <a:off x="4422464" y="1609378"/>
            <a:ext cx="535674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Como colocar a posição 8 da memória no R4? Qual é o fluxo? </a:t>
            </a:r>
            <a:endParaRPr sz="2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8" name="Google Shape;688;p14"/>
          <p:cNvSpPr/>
          <p:nvPr/>
        </p:nvSpPr>
        <p:spPr>
          <a:xfrm>
            <a:off x="2489676" y="5084628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3" name="Google Shape;693;p15"/>
          <p:cNvGrpSpPr/>
          <p:nvPr/>
        </p:nvGrpSpPr>
        <p:grpSpPr>
          <a:xfrm>
            <a:off x="358650" y="2903232"/>
            <a:ext cx="9301100" cy="4521352"/>
            <a:chOff x="358650" y="2903232"/>
            <a:chExt cx="9301100" cy="4521352"/>
          </a:xfrm>
        </p:grpSpPr>
        <p:sp>
          <p:nvSpPr>
            <p:cNvPr id="694" name="Google Shape;694;p15"/>
            <p:cNvSpPr/>
            <p:nvPr/>
          </p:nvSpPr>
          <p:spPr>
            <a:xfrm>
              <a:off x="7715781" y="3310355"/>
              <a:ext cx="1943969" cy="4114229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Memória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(Grande e Lenta)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5" name="Google Shape;695;p15"/>
            <p:cNvSpPr/>
            <p:nvPr/>
          </p:nvSpPr>
          <p:spPr>
            <a:xfrm>
              <a:off x="1861189" y="2903232"/>
              <a:ext cx="1943969" cy="2618470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Propósito Geral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(Pequena e Rápida)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6" name="Google Shape;696;p15"/>
            <p:cNvSpPr/>
            <p:nvPr/>
          </p:nvSpPr>
          <p:spPr>
            <a:xfrm rot="-5400000">
              <a:off x="3676612" y="3983226"/>
              <a:ext cx="1847054" cy="501311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rgbClr val="8C3A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Controle</a:t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97" name="Google Shape;697;p15"/>
            <p:cNvCxnSpPr/>
            <p:nvPr/>
          </p:nvCxnSpPr>
          <p:spPr>
            <a:xfrm>
              <a:off x="7200552" y="4619590"/>
              <a:ext cx="4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698" name="Google Shape;698;p15"/>
            <p:cNvCxnSpPr/>
            <p:nvPr/>
          </p:nvCxnSpPr>
          <p:spPr>
            <a:xfrm rot="10800000">
              <a:off x="7217017" y="3709512"/>
              <a:ext cx="4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699" name="Google Shape;699;p15"/>
            <p:cNvSpPr txBox="1"/>
            <p:nvPr/>
          </p:nvSpPr>
          <p:spPr>
            <a:xfrm>
              <a:off x="3520019" y="552170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Operando 2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00" name="Google Shape;700;p15"/>
            <p:cNvCxnSpPr/>
            <p:nvPr/>
          </p:nvCxnSpPr>
          <p:spPr>
            <a:xfrm rot="10800000">
              <a:off x="4981745" y="6170453"/>
              <a:ext cx="557399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701" name="Google Shape;701;p15"/>
            <p:cNvCxnSpPr/>
            <p:nvPr/>
          </p:nvCxnSpPr>
          <p:spPr>
            <a:xfrm>
              <a:off x="358650" y="3419797"/>
              <a:ext cx="0" cy="393365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2" name="Google Shape;702;p15"/>
            <p:cNvCxnSpPr/>
            <p:nvPr/>
          </p:nvCxnSpPr>
          <p:spPr>
            <a:xfrm rot="10800000">
              <a:off x="358650" y="3440584"/>
              <a:ext cx="151091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703" name="Google Shape;703;p15"/>
            <p:cNvCxnSpPr/>
            <p:nvPr/>
          </p:nvCxnSpPr>
          <p:spPr>
            <a:xfrm>
              <a:off x="7200044" y="7092205"/>
              <a:ext cx="515737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704" name="Google Shape;704;p15"/>
            <p:cNvSpPr/>
            <p:nvPr/>
          </p:nvSpPr>
          <p:spPr>
            <a:xfrm>
              <a:off x="1869564" y="5849949"/>
              <a:ext cx="1943969" cy="1200835"/>
            </a:xfrm>
            <a:custGeom>
              <a:rect b="b" l="l" r="r" t="t"/>
              <a:pathLst>
                <a:path extrusionOk="0" h="1193074" w="2295391">
                  <a:moveTo>
                    <a:pt x="0" y="0"/>
                  </a:moveTo>
                  <a:lnTo>
                    <a:pt x="522514" y="0"/>
                  </a:lnTo>
                  <a:lnTo>
                    <a:pt x="664039" y="386189"/>
                  </a:lnTo>
                  <a:lnTo>
                    <a:pt x="1607805" y="386189"/>
                  </a:lnTo>
                  <a:lnTo>
                    <a:pt x="1750423" y="10073"/>
                  </a:lnTo>
                  <a:lnTo>
                    <a:pt x="2295391" y="6400"/>
                  </a:lnTo>
                  <a:lnTo>
                    <a:pt x="1663337" y="1193074"/>
                  </a:lnTo>
                  <a:lnTo>
                    <a:pt x="635725" y="11930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cap="flat" cmpd="sng" w="25400">
              <a:solidFill>
                <a:srgbClr val="B46D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</a:t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5549558" y="6648121"/>
              <a:ext cx="1656078" cy="776463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Dados</a:t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5549558" y="5720948"/>
              <a:ext cx="1656078" cy="767919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Endereço da Memória</a:t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07" name="Google Shape;707;p15"/>
            <p:cNvCxnSpPr/>
            <p:nvPr/>
          </p:nvCxnSpPr>
          <p:spPr>
            <a:xfrm rot="10800000">
              <a:off x="7200552" y="6138655"/>
              <a:ext cx="483992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708" name="Google Shape;708;p15"/>
            <p:cNvCxnSpPr/>
            <p:nvPr/>
          </p:nvCxnSpPr>
          <p:spPr>
            <a:xfrm rot="10800000">
              <a:off x="3564407" y="5521702"/>
              <a:ext cx="6312" cy="32824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709" name="Google Shape;709;p15"/>
            <p:cNvCxnSpPr/>
            <p:nvPr/>
          </p:nvCxnSpPr>
          <p:spPr>
            <a:xfrm rot="10800000">
              <a:off x="2124247" y="5521702"/>
              <a:ext cx="0" cy="32824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710" name="Google Shape;710;p15"/>
            <p:cNvSpPr/>
            <p:nvPr/>
          </p:nvSpPr>
          <p:spPr>
            <a:xfrm>
              <a:off x="5543966" y="3314327"/>
              <a:ext cx="1656078" cy="787978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188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Contador de Programa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1" name="Google Shape;711;p15"/>
            <p:cNvSpPr/>
            <p:nvPr/>
          </p:nvSpPr>
          <p:spPr>
            <a:xfrm>
              <a:off x="5543966" y="4241500"/>
              <a:ext cx="1656078" cy="787978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188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Registrador de Instrução</a:t>
              </a:r>
              <a:endPara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2" name="Google Shape;712;p15"/>
            <p:cNvSpPr txBox="1"/>
            <p:nvPr/>
          </p:nvSpPr>
          <p:spPr>
            <a:xfrm>
              <a:off x="2044123" y="552170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Operando 1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13" name="Google Shape;713;p15"/>
            <p:cNvCxnSpPr/>
            <p:nvPr/>
          </p:nvCxnSpPr>
          <p:spPr>
            <a:xfrm rot="10800000">
              <a:off x="358650" y="7353449"/>
              <a:ext cx="518049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714" name="Google Shape;714;p15"/>
            <p:cNvCxnSpPr/>
            <p:nvPr/>
          </p:nvCxnSpPr>
          <p:spPr>
            <a:xfrm rot="10800000">
              <a:off x="2833172" y="7064375"/>
              <a:ext cx="0" cy="28907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715" name="Google Shape;715;p15"/>
            <p:cNvCxnSpPr/>
            <p:nvPr/>
          </p:nvCxnSpPr>
          <p:spPr>
            <a:xfrm>
              <a:off x="4981745" y="6189607"/>
              <a:ext cx="0" cy="116384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6" name="Google Shape;716;p15"/>
            <p:cNvCxnSpPr/>
            <p:nvPr/>
          </p:nvCxnSpPr>
          <p:spPr>
            <a:xfrm rot="5400000">
              <a:off x="3184556" y="5342932"/>
              <a:ext cx="1647455" cy="1303395"/>
            </a:xfrm>
            <a:prstGeom prst="bentConnector2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17" name="Google Shape;717;p15"/>
            <p:cNvSpPr txBox="1"/>
            <p:nvPr/>
          </p:nvSpPr>
          <p:spPr>
            <a:xfrm>
              <a:off x="3505817" y="6554191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Operação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18" name="Google Shape;718;p15"/>
            <p:cNvCxnSpPr/>
            <p:nvPr/>
          </p:nvCxnSpPr>
          <p:spPr>
            <a:xfrm rot="10800000">
              <a:off x="4850794" y="3709512"/>
              <a:ext cx="6987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719" name="Google Shape;719;p15"/>
            <p:cNvCxnSpPr/>
            <p:nvPr/>
          </p:nvCxnSpPr>
          <p:spPr>
            <a:xfrm>
              <a:off x="3805158" y="3440584"/>
              <a:ext cx="544325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720" name="Google Shape;720;p15"/>
            <p:cNvCxnSpPr/>
            <p:nvPr/>
          </p:nvCxnSpPr>
          <p:spPr>
            <a:xfrm>
              <a:off x="4850794" y="4619590"/>
              <a:ext cx="675276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721" name="Google Shape;721;p15"/>
            <p:cNvSpPr txBox="1"/>
            <p:nvPr/>
          </p:nvSpPr>
          <p:spPr>
            <a:xfrm>
              <a:off x="2827339" y="7062859"/>
              <a:ext cx="10801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Destino</a:t>
              </a:r>
              <a:endParaRPr b="1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aphicFrame>
        <p:nvGraphicFramePr>
          <p:cNvPr id="722" name="Google Shape;722;p15"/>
          <p:cNvGraphicFramePr/>
          <p:nvPr/>
        </p:nvGraphicFramePr>
        <p:xfrm>
          <a:off x="7799747" y="39528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360050"/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MOV R0, #2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pt-BR" sz="1400" u="none" cap="none" strike="noStrike"/>
                        <a:t>MOV R1, </a:t>
                      </a: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</a:rPr>
                        <a:t>R0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ADD R2, R0, R1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MOV R3, #0x8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STR R2, [R3]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3" name="Google Shape;723;p15"/>
          <p:cNvGraphicFramePr/>
          <p:nvPr/>
        </p:nvGraphicFramePr>
        <p:xfrm>
          <a:off x="5680722" y="60022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4" name="Google Shape;724;p15"/>
          <p:cNvGraphicFramePr/>
          <p:nvPr/>
        </p:nvGraphicFramePr>
        <p:xfrm>
          <a:off x="5675130" y="36157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5" name="Google Shape;725;p15"/>
          <p:cNvGraphicFramePr/>
          <p:nvPr/>
        </p:nvGraphicFramePr>
        <p:xfrm>
          <a:off x="5675130" y="45429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6" name="Google Shape;726;p15"/>
          <p:cNvGraphicFramePr/>
          <p:nvPr/>
        </p:nvGraphicFramePr>
        <p:xfrm>
          <a:off x="2419458" y="66348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8641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7" name="Google Shape;727;p15"/>
          <p:cNvGraphicFramePr/>
          <p:nvPr/>
        </p:nvGraphicFramePr>
        <p:xfrm>
          <a:off x="5666804" y="69748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1416000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28" name="Google Shape;728;p15"/>
          <p:cNvSpPr txBox="1"/>
          <p:nvPr/>
        </p:nvSpPr>
        <p:spPr>
          <a:xfrm>
            <a:off x="345012" y="560206"/>
            <a:ext cx="9506198" cy="983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0F243E"/>
                </a:solidFill>
                <a:latin typeface="Calibri"/>
                <a:ea typeface="Calibri"/>
                <a:cs typeface="Calibri"/>
                <a:sym typeface="Calibri"/>
              </a:rPr>
              <a:t>Arquitetura Simplificada “Load/Store” – </a:t>
            </a:r>
            <a:r>
              <a:rPr b="1" lang="pt-BR" sz="2400">
                <a:solidFill>
                  <a:srgbClr val="0F243E"/>
                </a:solidFill>
                <a:latin typeface="Calibri"/>
                <a:ea typeface="Calibri"/>
                <a:cs typeface="Calibri"/>
                <a:sym typeface="Calibri"/>
              </a:rPr>
              <a:t>ARM Cortex M0+</a:t>
            </a:r>
            <a:endParaRPr b="1" sz="3200">
              <a:solidFill>
                <a:srgbClr val="0F24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29" name="Google Shape;729;p15"/>
          <p:cNvGraphicFramePr/>
          <p:nvPr/>
        </p:nvGraphicFramePr>
        <p:xfrm>
          <a:off x="1945155" y="3695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{81B91D93-489E-4488-896C-D51FB2A6BC79}</a:tableStyleId>
              </a:tblPr>
              <a:tblGrid>
                <a:gridCol w="502875"/>
                <a:gridCol w="1273175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 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R4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30" name="Google Shape;730;p15"/>
          <p:cNvSpPr/>
          <p:nvPr/>
        </p:nvSpPr>
        <p:spPr>
          <a:xfrm>
            <a:off x="5822305" y="4559046"/>
            <a:ext cx="105291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 R0, #2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5"/>
          <p:cNvSpPr/>
          <p:nvPr/>
        </p:nvSpPr>
        <p:spPr>
          <a:xfrm>
            <a:off x="6242729" y="3645062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5"/>
          <p:cNvSpPr/>
          <p:nvPr/>
        </p:nvSpPr>
        <p:spPr>
          <a:xfrm>
            <a:off x="2489676" y="3780417"/>
            <a:ext cx="881652" cy="215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0xFF000000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5"/>
          <p:cNvSpPr/>
          <p:nvPr/>
        </p:nvSpPr>
        <p:spPr>
          <a:xfrm>
            <a:off x="5688384" y="4575348"/>
            <a:ext cx="1367176" cy="2539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LDR R0,=0xFF000000</a:t>
            </a:r>
            <a:endParaRPr/>
          </a:p>
        </p:txBody>
      </p:sp>
      <p:sp>
        <p:nvSpPr>
          <p:cNvPr id="734" name="Google Shape;734;p15"/>
          <p:cNvSpPr/>
          <p:nvPr/>
        </p:nvSpPr>
        <p:spPr>
          <a:xfrm>
            <a:off x="6210744" y="3642108"/>
            <a:ext cx="276038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5"/>
          <p:cNvSpPr/>
          <p:nvPr/>
        </p:nvSpPr>
        <p:spPr>
          <a:xfrm>
            <a:off x="2489676" y="4066865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5"/>
          <p:cNvSpPr/>
          <p:nvPr/>
        </p:nvSpPr>
        <p:spPr>
          <a:xfrm>
            <a:off x="2489676" y="4740456"/>
            <a:ext cx="4459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0x8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5"/>
          <p:cNvSpPr/>
          <p:nvPr/>
        </p:nvSpPr>
        <p:spPr>
          <a:xfrm>
            <a:off x="503809" y="1201299"/>
            <a:ext cx="9279094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Instrução:  LOAD – Carrega o registrador Rn com o valor do endereço da memória indicado pelo registrador Rd.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0066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LDR Rn, [Rd]</a:t>
            </a:r>
            <a:endParaRPr sz="2200">
              <a:solidFill>
                <a:srgbClr val="0066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38" name="Google Shape;738;p15"/>
          <p:cNvCxnSpPr/>
          <p:nvPr/>
        </p:nvCxnSpPr>
        <p:spPr>
          <a:xfrm flipH="1" rot="10800000">
            <a:off x="1566258" y="2174921"/>
            <a:ext cx="110102" cy="304362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9" name="Google Shape;739;p15"/>
          <p:cNvSpPr txBox="1"/>
          <p:nvPr/>
        </p:nvSpPr>
        <p:spPr>
          <a:xfrm>
            <a:off x="1062472" y="2381392"/>
            <a:ext cx="86754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OpCode</a:t>
            </a:r>
            <a:endParaRPr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40" name="Google Shape;740;p15"/>
          <p:cNvCxnSpPr/>
          <p:nvPr/>
        </p:nvCxnSpPr>
        <p:spPr>
          <a:xfrm rot="10800000">
            <a:off x="2286445" y="2148586"/>
            <a:ext cx="0" cy="330697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1" name="Google Shape;741;p15"/>
          <p:cNvSpPr txBox="1"/>
          <p:nvPr/>
        </p:nvSpPr>
        <p:spPr>
          <a:xfrm>
            <a:off x="1869670" y="2405238"/>
            <a:ext cx="82426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Destino</a:t>
            </a:r>
            <a:endParaRPr sz="16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42" name="Google Shape;742;p15"/>
          <p:cNvCxnSpPr/>
          <p:nvPr/>
        </p:nvCxnSpPr>
        <p:spPr>
          <a:xfrm rot="10800000">
            <a:off x="2901994" y="2140851"/>
            <a:ext cx="6454" cy="317957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3" name="Google Shape;743;p15"/>
          <p:cNvSpPr txBox="1"/>
          <p:nvPr/>
        </p:nvSpPr>
        <p:spPr>
          <a:xfrm>
            <a:off x="2603931" y="2404656"/>
            <a:ext cx="120298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Endereço </a:t>
            </a:r>
            <a:endParaRPr/>
          </a:p>
        </p:txBody>
      </p:sp>
      <p:sp>
        <p:nvSpPr>
          <p:cNvPr id="744" name="Google Shape;744;p15"/>
          <p:cNvSpPr/>
          <p:nvPr/>
        </p:nvSpPr>
        <p:spPr>
          <a:xfrm>
            <a:off x="8166591" y="5661452"/>
            <a:ext cx="10807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LDR R4, [R3]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5"/>
          <p:cNvSpPr/>
          <p:nvPr/>
        </p:nvSpPr>
        <p:spPr>
          <a:xfrm>
            <a:off x="8187457" y="6692690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5"/>
          <p:cNvSpPr/>
          <p:nvPr/>
        </p:nvSpPr>
        <p:spPr>
          <a:xfrm>
            <a:off x="2489676" y="5058103"/>
            <a:ext cx="2760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5"/>
          <p:cNvSpPr txBox="1"/>
          <p:nvPr/>
        </p:nvSpPr>
        <p:spPr>
          <a:xfrm>
            <a:off x="4600138" y="1861183"/>
            <a:ext cx="525107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por der usado para colocar endereços de 32 bits nos registradores!</a:t>
            </a:r>
            <a:endParaRPr sz="24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8" name="Google Shape;748;p15"/>
          <p:cNvSpPr/>
          <p:nvPr/>
        </p:nvSpPr>
        <p:spPr>
          <a:xfrm>
            <a:off x="8121086" y="6031953"/>
            <a:ext cx="14975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LDR R0,=0xFF000000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6"/>
          <p:cNvSpPr txBox="1"/>
          <p:nvPr>
            <p:ph type="title"/>
          </p:nvPr>
        </p:nvSpPr>
        <p:spPr>
          <a:xfrm>
            <a:off x="143768" y="780009"/>
            <a:ext cx="9430072" cy="983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Subtração utilizando complemento de 2</a:t>
            </a:r>
            <a:endParaRPr sz="3200"/>
          </a:p>
        </p:txBody>
      </p:sp>
      <p:sp>
        <p:nvSpPr>
          <p:cNvPr id="754" name="Google Shape;754;p16"/>
          <p:cNvSpPr/>
          <p:nvPr/>
        </p:nvSpPr>
        <p:spPr>
          <a:xfrm>
            <a:off x="503808" y="1711841"/>
            <a:ext cx="835292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 (a+b)-(c+d), sendo a = 1, b = 2, c = 3, d =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 (1+2)-(3+4) = 3-7 = -4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5" name="Google Shape;755;p16"/>
          <p:cNvSpPr/>
          <p:nvPr/>
        </p:nvSpPr>
        <p:spPr>
          <a:xfrm>
            <a:off x="503808" y="3228560"/>
            <a:ext cx="921702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Procedimento: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Tirar o complemento de 2 do subtraendo (Op2) </a:t>
            </a:r>
            <a:r>
              <a:rPr b="1" lang="pt-B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inverter os bits e somar 1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Adiciona-lo ao minuendo (Rn)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6" name="Google Shape;756;p16"/>
          <p:cNvSpPr/>
          <p:nvPr/>
        </p:nvSpPr>
        <p:spPr>
          <a:xfrm>
            <a:off x="503808" y="2648802"/>
            <a:ext cx="241765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 Rd, Rn, Op2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7" name="Google Shape;757;p16"/>
          <p:cNvSpPr/>
          <p:nvPr/>
        </p:nvSpPr>
        <p:spPr>
          <a:xfrm>
            <a:off x="500236" y="4517439"/>
            <a:ext cx="9576817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em Hexa expresso em 32 bits	0000  0007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Complemento de 2	</a:t>
            </a:r>
            <a:r>
              <a:rPr lang="pt-BR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FFFF  FFF9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2"/>
            </a:pP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0000  0003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</a:t>
            </a:r>
            <a:r>
              <a:rPr lang="pt-BR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pt-BR" sz="2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FFFF  FFF9 </a:t>
            </a: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pt-BR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FFFF FFFC = -4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FFFF FFFC → 1111 1111 1111 1111 1111 1111 1111 1101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Complemento de 2 → 000 0000 0000 0000 0000 0000 0000 0100 → 4		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58" name="Google Shape;758;p16"/>
          <p:cNvCxnSpPr/>
          <p:nvPr/>
        </p:nvCxnSpPr>
        <p:spPr>
          <a:xfrm>
            <a:off x="2592040" y="5940077"/>
            <a:ext cx="329418" cy="792088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9" name="Google Shape;759;p16"/>
          <p:cNvSpPr txBox="1"/>
          <p:nvPr/>
        </p:nvSpPr>
        <p:spPr>
          <a:xfrm>
            <a:off x="2159992" y="5548490"/>
            <a:ext cx="38106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Este bit indica que é negativo</a:t>
            </a:r>
            <a:endParaRPr sz="24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Gustavo Rehder</dc:creator>
</cp:coreProperties>
</file>